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57" r:id="rId1"/>
  </p:sldMasterIdLst>
  <p:notesMasterIdLst>
    <p:notesMasterId r:id="rId24"/>
  </p:notesMasterIdLst>
  <p:sldIdLst>
    <p:sldId id="256" r:id="rId2"/>
    <p:sldId id="1255" r:id="rId3"/>
    <p:sldId id="1041" r:id="rId4"/>
    <p:sldId id="1777" r:id="rId5"/>
    <p:sldId id="1042" r:id="rId6"/>
    <p:sldId id="1754" r:id="rId7"/>
    <p:sldId id="1043" r:id="rId8"/>
    <p:sldId id="1757" r:id="rId9"/>
    <p:sldId id="1044" r:id="rId10"/>
    <p:sldId id="1764" r:id="rId11"/>
    <p:sldId id="1045" r:id="rId12"/>
    <p:sldId id="1761" r:id="rId13"/>
    <p:sldId id="1046" r:id="rId14"/>
    <p:sldId id="1772" r:id="rId15"/>
    <p:sldId id="1047" r:id="rId16"/>
    <p:sldId id="1048" r:id="rId17"/>
    <p:sldId id="1767" r:id="rId18"/>
    <p:sldId id="1775" r:id="rId19"/>
    <p:sldId id="1773" r:id="rId20"/>
    <p:sldId id="1789" r:id="rId21"/>
    <p:sldId id="1786" r:id="rId22"/>
    <p:sldId id="1040"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56">
          <p15:clr>
            <a:srgbClr val="A4A3A4"/>
          </p15:clr>
        </p15:guide>
        <p15:guide id="2" pos="381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uyun Xi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C41"/>
    <a:srgbClr val="00A1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0" autoAdjust="0"/>
    <p:restoredTop sz="96182" autoAdjust="0"/>
  </p:normalViewPr>
  <p:slideViewPr>
    <p:cSldViewPr snapToGrid="0">
      <p:cViewPr varScale="1">
        <p:scale>
          <a:sx n="82" d="100"/>
          <a:sy n="82" d="100"/>
        </p:scale>
        <p:origin x="691" y="48"/>
      </p:cViewPr>
      <p:guideLst>
        <p:guide orient="horz" pos="2256"/>
        <p:guide pos="3816"/>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11219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3" name="Google Shape;5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16144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resentation Title" userDrawn="1">
  <p:cSld name="Presentation Title">
    <p:spTree>
      <p:nvGrpSpPr>
        <p:cNvPr id="1" name="Shape 11"/>
        <p:cNvGrpSpPr/>
        <p:nvPr/>
      </p:nvGrpSpPr>
      <p:grpSpPr>
        <a:xfrm>
          <a:off x="0" y="0"/>
          <a:ext cx="0" cy="0"/>
          <a:chOff x="0" y="0"/>
          <a:chExt cx="0" cy="0"/>
        </a:xfrm>
      </p:grpSpPr>
      <p:sp>
        <p:nvSpPr>
          <p:cNvPr id="13" name="Google Shape;13;p2"/>
          <p:cNvSpPr/>
          <p:nvPr/>
        </p:nvSpPr>
        <p:spPr>
          <a:xfrm>
            <a:off x="8142308" y="-1096"/>
            <a:ext cx="5067299" cy="6859096"/>
          </a:xfrm>
          <a:prstGeom prst="rect">
            <a:avLst/>
          </a:prstGeom>
          <a:gradFill>
            <a:gsLst>
              <a:gs pos="0">
                <a:srgbClr val="FF9900">
                  <a:alpha val="0"/>
                </a:srgbClr>
              </a:gs>
              <a:gs pos="30000">
                <a:srgbClr val="FF9900">
                  <a:alpha val="0"/>
                </a:srgbClr>
              </a:gs>
              <a:gs pos="100000">
                <a:srgbClr val="FF9900"/>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4" name="Google Shape;14;p2"/>
          <p:cNvPicPr preferRelativeResize="0"/>
          <p:nvPr/>
        </p:nvPicPr>
        <p:blipFill rotWithShape="1">
          <a:blip r:embed="rId2">
            <a:alphaModFix/>
          </a:blip>
          <a:srcRect l="17964" t="8418" r="2710" b="7957"/>
          <a:stretch/>
        </p:blipFill>
        <p:spPr>
          <a:xfrm>
            <a:off x="4112930" y="-1096"/>
            <a:ext cx="10404671" cy="6858000"/>
          </a:xfrm>
          <a:prstGeom prst="rect">
            <a:avLst/>
          </a:prstGeom>
          <a:noFill/>
          <a:ln>
            <a:noFill/>
          </a:ln>
        </p:spPr>
      </p:pic>
      <p:sp>
        <p:nvSpPr>
          <p:cNvPr id="15" name="Google Shape;15;p2"/>
          <p:cNvSpPr txBox="1">
            <a:spLocks noGrp="1"/>
          </p:cNvSpPr>
          <p:nvPr>
            <p:ph type="body" idx="1"/>
          </p:nvPr>
        </p:nvSpPr>
        <p:spPr>
          <a:xfrm>
            <a:off x="355978" y="1878526"/>
            <a:ext cx="5562601" cy="168650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1000"/>
              </a:spcBef>
              <a:spcAft>
                <a:spcPts val="0"/>
              </a:spcAft>
              <a:buClr>
                <a:schemeClr val="lt1"/>
              </a:buClr>
              <a:buSzPts val="5400"/>
              <a:buFont typeface="Arial"/>
              <a:buNone/>
              <a:defRPr sz="5400" b="0" i="0" u="none" strike="noStrike" cap="none">
                <a:solidFill>
                  <a:schemeClr val="lt1"/>
                </a:solidFill>
                <a:latin typeface="Arial"/>
                <a:ea typeface="Arial"/>
                <a:cs typeface="Arial"/>
                <a:sym typeface="Arial"/>
              </a:defRPr>
            </a:lvl1pPr>
            <a:lvl2pPr marL="914400" marR="0" lvl="1"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10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 name="Google Shape;16;p2"/>
          <p:cNvSpPr txBox="1">
            <a:spLocks noGrp="1"/>
          </p:cNvSpPr>
          <p:nvPr>
            <p:ph type="body" idx="2"/>
          </p:nvPr>
        </p:nvSpPr>
        <p:spPr>
          <a:xfrm>
            <a:off x="355979" y="3870292"/>
            <a:ext cx="5562600" cy="3334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10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10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 name="Google Shape;57;p11">
            <a:extLst>
              <a:ext uri="{FF2B5EF4-FFF2-40B4-BE49-F238E27FC236}">
                <a16:creationId xmlns:a16="http://schemas.microsoft.com/office/drawing/2014/main" id="{07C439E1-556B-1844-8B3F-94CD6BAEFB0B}"/>
              </a:ext>
            </a:extLst>
          </p:cNvPr>
          <p:cNvSpPr txBox="1">
            <a:spLocks noGrp="1"/>
          </p:cNvSpPr>
          <p:nvPr>
            <p:ph type="body" idx="3"/>
          </p:nvPr>
        </p:nvSpPr>
        <p:spPr>
          <a:xfrm>
            <a:off x="355979" y="4885522"/>
            <a:ext cx="5562600" cy="333466"/>
          </a:xfrm>
          <a:prstGeom prst="rect">
            <a:avLst/>
          </a:prstGeom>
          <a:noFill/>
          <a:ln>
            <a:noFill/>
          </a:ln>
        </p:spPr>
        <p:txBody>
          <a:bodyPr spcFirstLastPara="1" wrap="square" lIns="91425" tIns="45700" rIns="91425" bIns="45700" anchor="t" anchorCtr="0">
            <a:noAutofit/>
          </a:bodyPr>
          <a:lstStyle>
            <a:lvl1pPr>
              <a:defRPr>
                <a:solidFill>
                  <a:schemeClr val="bg1"/>
                </a:solidFill>
              </a:defRPr>
            </a:lvl1pPr>
          </a:lstStyle>
          <a:p>
            <a:pPr marL="0" lvl="0" indent="0" algn="l" rtl="0">
              <a:lnSpc>
                <a:spcPct val="80000"/>
              </a:lnSpc>
              <a:spcBef>
                <a:spcPts val="0"/>
              </a:spcBef>
              <a:spcAft>
                <a:spcPts val="0"/>
              </a:spcAft>
              <a:buClr>
                <a:schemeClr val="lt1"/>
              </a:buClr>
              <a:buSzPts val="1850"/>
              <a:buNone/>
            </a:pPr>
            <a:r>
              <a:rPr lang="en-US" sz="1850" dirty="0"/>
              <a:t>Wang</a:t>
            </a:r>
            <a:r>
              <a:rPr lang="zh-CN" altLang="en-US" sz="1850" dirty="0"/>
              <a:t> </a:t>
            </a:r>
            <a:r>
              <a:rPr lang="en-US" altLang="zh-CN" sz="1850" dirty="0"/>
              <a:t>Jidong</a:t>
            </a:r>
          </a:p>
          <a:p>
            <a:pPr marL="0" lvl="0" indent="0" algn="l" rtl="0">
              <a:lnSpc>
                <a:spcPct val="80000"/>
              </a:lnSpc>
              <a:spcBef>
                <a:spcPts val="0"/>
              </a:spcBef>
              <a:spcAft>
                <a:spcPts val="0"/>
              </a:spcAft>
              <a:buClr>
                <a:schemeClr val="lt1"/>
              </a:buClr>
              <a:buSzPts val="1850"/>
              <a:buNone/>
            </a:pPr>
            <a:endParaRPr sz="18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3CEF0-F579-D84E-8DD4-F74B06154EA4}"/>
              </a:ext>
            </a:extLst>
          </p:cNvPr>
          <p:cNvSpPr>
            <a:spLocks noGrp="1"/>
          </p:cNvSpPr>
          <p:nvPr>
            <p:ph type="title"/>
          </p:nvPr>
        </p:nvSpPr>
        <p:spPr>
          <a:xfrm>
            <a:off x="373505" y="365126"/>
            <a:ext cx="10515600" cy="804108"/>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594367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9052" y="153249"/>
            <a:ext cx="10940405" cy="727655"/>
          </a:xfrm>
        </p:spPr>
        <p:txBody>
          <a:bodyPr/>
          <a:lstStyle>
            <a:lvl1pPr>
              <a:defRPr>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0" indent="0">
              <a:buNone/>
              <a:defRPr>
                <a:solidFill>
                  <a:schemeClr val="bg1"/>
                </a:solidFill>
              </a:defRPr>
            </a:lvl1pPr>
            <a:lvl2pPr marL="990575" indent="-380990">
              <a:buFont typeface="Arial"/>
              <a:buChar char="•"/>
              <a:defRPr>
                <a:solidFill>
                  <a:schemeClr val="bg1"/>
                </a:solidFill>
              </a:defRPr>
            </a:lvl2pPr>
            <a:lvl3pPr marL="1523962" indent="-304792">
              <a:buFont typeface="Arial"/>
              <a:buChar cha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79761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5">
            <a:alphaModFix/>
          </a:blip>
          <a:srcRect/>
          <a:stretch/>
        </p:blipFill>
        <p:spPr>
          <a:xfrm>
            <a:off x="12496800" y="0"/>
            <a:ext cx="353761" cy="1447800"/>
          </a:xfrm>
          <a:prstGeom prst="rect">
            <a:avLst/>
          </a:prstGeom>
          <a:noFill/>
          <a:ln>
            <a:noFill/>
          </a:ln>
        </p:spPr>
      </p:pic>
      <p:sp>
        <p:nvSpPr>
          <p:cNvPr id="2" name="Title Placeholder 1">
            <a:extLst>
              <a:ext uri="{FF2B5EF4-FFF2-40B4-BE49-F238E27FC236}">
                <a16:creationId xmlns:a16="http://schemas.microsoft.com/office/drawing/2014/main" id="{406ADAE1-FC85-3047-8A89-4C264C27B286}"/>
              </a:ext>
            </a:extLst>
          </p:cNvPr>
          <p:cNvSpPr>
            <a:spLocks noGrp="1"/>
          </p:cNvSpPr>
          <p:nvPr>
            <p:ph type="title"/>
          </p:nvPr>
        </p:nvSpPr>
        <p:spPr>
          <a:xfrm>
            <a:off x="313544" y="365125"/>
            <a:ext cx="10515600" cy="894049"/>
          </a:xfrm>
          <a:prstGeom prst="rect">
            <a:avLst/>
          </a:prstGeom>
        </p:spPr>
        <p:txBody>
          <a:bodyPr vert="horz" lIns="91440" tIns="45720" rIns="91440" bIns="45720" rtlCol="0" anchor="ctr">
            <a:normAutofit/>
          </a:bodyPr>
          <a:lstStyle/>
          <a:p>
            <a:r>
              <a:rPr lang="en-US"/>
              <a:t>Click to edit Master title style</a:t>
            </a:r>
          </a:p>
        </p:txBody>
      </p:sp>
      <p:pic>
        <p:nvPicPr>
          <p:cNvPr id="5" name="图片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94212" y="6280517"/>
            <a:ext cx="1090205" cy="385933"/>
          </a:xfrm>
          <a:prstGeom prst="rect">
            <a:avLst/>
          </a:prstGeom>
          <a:ln>
            <a:noFill/>
          </a:ln>
          <a:effectLst>
            <a:outerShdw blurRad="292100" dist="139700" dir="2700000" algn="tl" rotWithShape="0">
              <a:srgbClr val="333333">
                <a:alpha val="65000"/>
              </a:srgbClr>
            </a:outerShdw>
          </a:effectLst>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0" i="0" u="none" strike="noStrike" cap="none">
          <a:solidFill>
            <a:schemeClr val="bg1"/>
          </a:solidFill>
          <a:latin typeface="Microsoft YaHei" panose="020B0503020204020204" pitchFamily="34" charset="-122"/>
          <a:ea typeface="Microsoft YaHei" panose="020B0503020204020204" pitchFamily="34"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336">
          <p15:clr>
            <a:srgbClr val="F26B43"/>
          </p15:clr>
        </p15:guide>
        <p15:guide id="3" pos="7344">
          <p15:clr>
            <a:srgbClr val="F26B43"/>
          </p15:clr>
        </p15:guide>
        <p15:guide id="4" orient="horz" pos="3696">
          <p15:clr>
            <a:srgbClr val="F26B43"/>
          </p15:clr>
        </p15:guide>
        <p15:guide id="5" orient="horz" pos="2160">
          <p15:clr>
            <a:srgbClr val="F26B43"/>
          </p15:clr>
        </p15:guide>
        <p15:guide id="6" orient="horz" pos="336">
          <p15:clr>
            <a:srgbClr val="F26B43"/>
          </p15:clr>
        </p15:guide>
        <p15:guide id="7" orient="horz" pos="1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amazonaws.cn/kinesisvideostreams/latest/dg/tiered-storage.html" TargetMode="External"/><Relationship Id="rId2" Type="http://schemas.openxmlformats.org/officeDocument/2006/relationships/hyperlink" Target="https://www.amazonaws.cn/kinesis/video-streams/" TargetMode="External"/><Relationship Id="rId1" Type="http://schemas.openxmlformats.org/officeDocument/2006/relationships/slideLayout" Target="../slideLayouts/slideLayout3.xml"/><Relationship Id="rId4" Type="http://schemas.openxmlformats.org/officeDocument/2006/relationships/hyperlink" Target="https://www.amazonaws.cn/new/2025/amazon-kinesis-video-streams-supports-a-new-cost-effective-warm-storage-ti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amazonaws.cn/en/s3/features/tables/" TargetMode="External"/><Relationship Id="rId2" Type="http://schemas.openxmlformats.org/officeDocument/2006/relationships/hyperlink" Target="https://www.amazonaws.cn/en/s3/pricing/" TargetMode="External"/><Relationship Id="rId1" Type="http://schemas.openxmlformats.org/officeDocument/2006/relationships/slideLayout" Target="../slideLayouts/slideLayout3.xml"/><Relationship Id="rId5" Type="http://schemas.openxmlformats.org/officeDocument/2006/relationships/hyperlink" Target="https://www.amazonaws.cn/new/2025/announcing-amazon-s3-tables/" TargetMode="External"/><Relationship Id="rId4" Type="http://schemas.openxmlformats.org/officeDocument/2006/relationships/hyperlink" Target="https://docs.amazonaws.cn/AmazonS3/latest/userguide/s3-tables.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amazonaws.cn/ecr/" TargetMode="External"/><Relationship Id="rId2" Type="http://schemas.openxmlformats.org/officeDocument/2006/relationships/hyperlink" Target="https://docs.amazonaws.cn/AmazonECR/latest/userguide/repository-creation-templates-create.html" TargetMode="External"/><Relationship Id="rId1" Type="http://schemas.openxmlformats.org/officeDocument/2006/relationships/slideLayout" Target="../slideLayouts/slideLayout3.xml"/><Relationship Id="rId5" Type="http://schemas.openxmlformats.org/officeDocument/2006/relationships/hyperlink" Target="https://www.amazonaws.cn/new/2025/amazon-ecr-supports-creating-repositories-on-push/" TargetMode="External"/><Relationship Id="rId4" Type="http://schemas.openxmlformats.org/officeDocument/2006/relationships/hyperlink" Target="https://docs.amazonaws.cn/AmazonECR/latest/userguide/what-is-ecr.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amazonaws.cn/new/2025/amazon-rds-enhances-observability-for-snapshot-exports-to-amazon-s3/" TargetMode="External"/><Relationship Id="rId2" Type="http://schemas.openxmlformats.org/officeDocument/2006/relationships/hyperlink" Target="https://docs.amazonaws.cn/en_us/AmazonRDS/latest/UserGuide/USER_Events.Messages.htm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mazonaws.cn/new/2025/amazon-guardduty-extended-threat-detection-supports-amazon-ec2-and-amazon-ecs/" TargetMode="External"/><Relationship Id="rId2" Type="http://schemas.openxmlformats.org/officeDocument/2006/relationships/hyperlink" Target="https://docs.amazonaws.cn/en_us/guardduty/latest/ug/what-is-guardduty.htm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amazonaws.cn/organizations/latest/APIReference/" TargetMode="External"/><Relationship Id="rId2" Type="http://schemas.openxmlformats.org/officeDocument/2006/relationships/hyperlink" Target="https://docs.amazonaws.cn/organizations/latest/userguide/orgs_manage_accounts_invites.html" TargetMode="External"/><Relationship Id="rId1" Type="http://schemas.openxmlformats.org/officeDocument/2006/relationships/slideLayout" Target="../slideLayouts/slideLayout3.xml"/><Relationship Id="rId4" Type="http://schemas.openxmlformats.org/officeDocument/2006/relationships/hyperlink" Target="https://www.amazonaws.cn/new/2025/amazon-organizations-introduces-direct-account-transfers-between-organization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amazonaws.cn/en/cloudwatch/pricing/" TargetMode="External"/><Relationship Id="rId2" Type="http://schemas.openxmlformats.org/officeDocument/2006/relationships/hyperlink" Target="https://docs.amazonaws.cn/en_us/Route53/latest/DeveloperGuide/monitoring-resolver-with-cloudwatch.html" TargetMode="External"/><Relationship Id="rId1" Type="http://schemas.openxmlformats.org/officeDocument/2006/relationships/slideLayout" Target="../slideLayouts/slideLayout3.xml"/><Relationship Id="rId5" Type="http://schemas.openxmlformats.org/officeDocument/2006/relationships/hyperlink" Target="https://www.amazonaws.cn/new/2025/amazon-route-53-launches-detailed-metrics-for-resolver-endpoints/" TargetMode="External"/><Relationship Id="rId4" Type="http://schemas.openxmlformats.org/officeDocument/2006/relationships/hyperlink" Target="https://www.amazonaws.cn/en/route53/pric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amazonaws.cn/new/2025/amazon-iot-offers-event-based-logging-to-help-optimize-observability-costs/" TargetMode="External"/><Relationship Id="rId2" Type="http://schemas.openxmlformats.org/officeDocument/2006/relationships/hyperlink" Target="https://docs.amazonaws.cn/en_us/iot/latest/developerguide/configure-logging.html"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wsmarketplace.amazonaws.cn/marketplace/partners/management-tour" TargetMode="External"/><Relationship Id="rId2" Type="http://schemas.openxmlformats.org/officeDocument/2006/relationships/hyperlink" Target="https://awsmarketplace.amazonaws.cn/?locale=en" TargetMode="External"/><Relationship Id="rId1" Type="http://schemas.openxmlformats.org/officeDocument/2006/relationships/slideLayout" Target="../slideLayouts/slideLayout3.xml"/><Relationship Id="rId5" Type="http://schemas.openxmlformats.org/officeDocument/2006/relationships/hyperlink" Target="https://www.amazonaws.cn/new/2025/amazon-web-services-marketplace-china-launches-sslv2-for-professional-services-products/" TargetMode="External"/><Relationship Id="rId4" Type="http://schemas.openxmlformats.org/officeDocument/2006/relationships/hyperlink" Target="https://awsmarketplace.amazonaws.cn/marketplace/management/products/professionalservices"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55979" y="1600230"/>
            <a:ext cx="8416066" cy="1686600"/>
          </a:xfrm>
          <a:prstGeom prst="rect">
            <a:avLst/>
          </a:prstGeom>
          <a:noFill/>
          <a:ln>
            <a:noFill/>
          </a:ln>
        </p:spPr>
        <p:txBody>
          <a:bodyPr spcFirstLastPara="1" wrap="square" lIns="91425" tIns="45700" rIns="91425" bIns="45700" anchor="t" anchorCtr="0">
            <a:noAutofit/>
          </a:bodyPr>
          <a:lstStyle/>
          <a:p>
            <a:pPr marL="0" lvl="0" indent="0" defTabSz="457200">
              <a:spcBef>
                <a:spcPct val="20000"/>
              </a:spcBef>
              <a:buClrTx/>
              <a:buSzTx/>
            </a:pPr>
            <a:r>
              <a:rPr lang="en-US" altLang="zh-CN" sz="4000" b="1" kern="1200" dirty="0">
                <a:solidFill>
                  <a:srgbClr val="FFFFFF"/>
                </a:solidFill>
                <a:latin typeface="Amazon Ember Regular" charset="0"/>
                <a:ea typeface="黑体" panose="02010609060101010101" pitchFamily="49" charset="-122"/>
                <a:cs typeface="Amazon Ember Regular" charset="0"/>
              </a:rPr>
              <a:t>AWS</a:t>
            </a:r>
            <a:r>
              <a:rPr lang="zh-CN" altLang="en-US" sz="4000" b="1" kern="1200" dirty="0">
                <a:solidFill>
                  <a:srgbClr val="FFFFFF"/>
                </a:solidFill>
                <a:latin typeface="Amazon Ember Regular" charset="0"/>
                <a:ea typeface="黑体" panose="02010609060101010101" pitchFamily="49" charset="-122"/>
                <a:cs typeface="Amazon Ember Regular" charset="0"/>
              </a:rPr>
              <a:t> </a:t>
            </a:r>
            <a:r>
              <a:rPr lang="zh-CN" altLang="en-US" sz="4000" b="1" kern="1200" dirty="0">
                <a:solidFill>
                  <a:srgbClr val="FFFFFF"/>
                </a:solidFill>
                <a:latin typeface="Microsoft YaHei" panose="020B0503020204020204" pitchFamily="34" charset="-122"/>
                <a:ea typeface="Microsoft YaHei" panose="020B0503020204020204" pitchFamily="34" charset="-122"/>
                <a:cs typeface="Amazon Ember Regular" charset="0"/>
              </a:rPr>
              <a:t>新功能新服务</a:t>
            </a:r>
            <a:endParaRPr lang="en-US" altLang="zh-CN" sz="4000" b="1" kern="1200" dirty="0">
              <a:solidFill>
                <a:srgbClr val="FFFFFF"/>
              </a:solidFill>
              <a:latin typeface="Microsoft YaHei" panose="020B0503020204020204" pitchFamily="34" charset="-122"/>
              <a:ea typeface="Microsoft YaHei" panose="020B0503020204020204" pitchFamily="34" charset="-122"/>
              <a:cs typeface="Amazon Ember Regular" charset="0"/>
            </a:endParaRPr>
          </a:p>
          <a:p>
            <a:pPr marL="0" lvl="0" indent="0" defTabSz="457200">
              <a:spcBef>
                <a:spcPct val="20000"/>
              </a:spcBef>
              <a:buClrTx/>
              <a:buSzTx/>
            </a:pPr>
            <a:r>
              <a:rPr lang="en-US" sz="2400" b="1" kern="1200" dirty="0">
                <a:solidFill>
                  <a:srgbClr val="FFFFFF">
                    <a:lumMod val="65000"/>
                  </a:srgbClr>
                </a:solidFill>
                <a:latin typeface="Amazon Ember Regular" charset="0"/>
                <a:ea typeface="+mn-ea"/>
                <a:cs typeface="Amazon Ember Regular" charset="0"/>
              </a:rPr>
              <a:t>AWS</a:t>
            </a:r>
            <a:r>
              <a:rPr lang="zh-CN" altLang="en-US" sz="2400" b="1" kern="1200" dirty="0">
                <a:solidFill>
                  <a:srgbClr val="FFFFFF">
                    <a:lumMod val="65000"/>
                  </a:srgbClr>
                </a:solidFill>
                <a:latin typeface="Amazon Ember Regular" charset="0"/>
                <a:ea typeface="黑体" panose="02010609060101010101" pitchFamily="49" charset="-122"/>
                <a:cs typeface="Amazon Ember Regular" charset="0"/>
              </a:rPr>
              <a:t> </a:t>
            </a:r>
            <a:r>
              <a:rPr lang="en-US" altLang="zh-CN" sz="2400" b="1" kern="1200" dirty="0">
                <a:solidFill>
                  <a:srgbClr val="FFFFFF">
                    <a:lumMod val="65000"/>
                  </a:srgbClr>
                </a:solidFill>
                <a:latin typeface="Amazon Ember Regular" charset="0"/>
                <a:ea typeface="黑体" panose="02010609060101010101" pitchFamily="49" charset="-122"/>
                <a:cs typeface="Amazon Ember Regular" charset="0"/>
              </a:rPr>
              <a:t>Service what’s New</a:t>
            </a:r>
            <a:endParaRPr lang="en-US" sz="2400" b="1" kern="1200" dirty="0">
              <a:solidFill>
                <a:srgbClr val="FFFFFF">
                  <a:lumMod val="65000"/>
                </a:srgbClr>
              </a:solidFill>
              <a:latin typeface="Amazon Ember Regular" charset="0"/>
              <a:ea typeface="+mn-ea"/>
              <a:cs typeface="Amazon Ember Regular" charset="0"/>
            </a:endParaRPr>
          </a:p>
        </p:txBody>
      </p:sp>
      <p:sp>
        <p:nvSpPr>
          <p:cNvPr id="57" name="Google Shape;57;p11"/>
          <p:cNvSpPr txBox="1">
            <a:spLocks noGrp="1"/>
          </p:cNvSpPr>
          <p:nvPr>
            <p:ph type="body" idx="4294967295"/>
          </p:nvPr>
        </p:nvSpPr>
        <p:spPr>
          <a:xfrm>
            <a:off x="355979" y="4933673"/>
            <a:ext cx="5562600" cy="333466"/>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lt1"/>
              </a:buClr>
              <a:buSzPts val="1850"/>
              <a:buNone/>
            </a:pPr>
            <a:endParaRPr sz="1850" dirty="0">
              <a:solidFill>
                <a:schemeClr val="bg1"/>
              </a:solidFill>
            </a:endParaRPr>
          </a:p>
        </p:txBody>
      </p:sp>
      <p:sp>
        <p:nvSpPr>
          <p:cNvPr id="5" name="Text Placeholder 4">
            <a:extLst>
              <a:ext uri="{FF2B5EF4-FFF2-40B4-BE49-F238E27FC236}">
                <a16:creationId xmlns:a16="http://schemas.microsoft.com/office/drawing/2014/main" id="{78D47FB5-0161-894C-BE56-B9DB1A4B5707}"/>
              </a:ext>
            </a:extLst>
          </p:cNvPr>
          <p:cNvSpPr txBox="1">
            <a:spLocks/>
          </p:cNvSpPr>
          <p:nvPr/>
        </p:nvSpPr>
        <p:spPr>
          <a:xfrm>
            <a:off x="355979" y="3042905"/>
            <a:ext cx="6041582" cy="487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zh-CN" altLang="en-US" dirty="0">
                <a:solidFill>
                  <a:schemeClr val="bg1">
                    <a:lumMod val="85000"/>
                  </a:schemeClr>
                </a:solidFill>
              </a:rPr>
              <a:t>报告周期：</a:t>
            </a:r>
            <a:r>
              <a:rPr lang="en-US" altLang="zh-CN" dirty="0">
                <a:solidFill>
                  <a:schemeClr val="bg1">
                    <a:lumMod val="85000"/>
                  </a:schemeClr>
                </a:solidFill>
              </a:rPr>
              <a:t>2025.12</a:t>
            </a:r>
            <a:endParaRPr lang="en-US" dirty="0">
              <a:solidFill>
                <a:schemeClr val="bg1">
                  <a:lumMod val="85000"/>
                </a:schemeClr>
              </a:solidFill>
            </a:endParaRPr>
          </a:p>
        </p:txBody>
      </p:sp>
      <p:sp>
        <p:nvSpPr>
          <p:cNvPr id="6" name="Google Shape;57;p11">
            <a:extLst>
              <a:ext uri="{FF2B5EF4-FFF2-40B4-BE49-F238E27FC236}">
                <a16:creationId xmlns:a16="http://schemas.microsoft.com/office/drawing/2014/main" id="{4306BDA8-419B-B34D-853A-CC313D5026FB}"/>
              </a:ext>
            </a:extLst>
          </p:cNvPr>
          <p:cNvSpPr txBox="1">
            <a:spLocks/>
          </p:cNvSpPr>
          <p:nvPr/>
        </p:nvSpPr>
        <p:spPr>
          <a:xfrm>
            <a:off x="355979" y="5277917"/>
            <a:ext cx="5562600" cy="3334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10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10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a:lnSpc>
                <a:spcPct val="80000"/>
              </a:lnSpc>
              <a:spcBef>
                <a:spcPts val="0"/>
              </a:spcBef>
              <a:buSzPts val="1850"/>
            </a:pPr>
            <a:r>
              <a:rPr lang="en-US" sz="1600" dirty="0">
                <a:solidFill>
                  <a:schemeClr val="bg1">
                    <a:lumMod val="75000"/>
                  </a:schemeClr>
                </a:solidFill>
              </a:rPr>
              <a:t>Technical</a:t>
            </a:r>
            <a:r>
              <a:rPr lang="zh-CN" altLang="en-US" sz="1600" dirty="0">
                <a:solidFill>
                  <a:schemeClr val="bg1">
                    <a:lumMod val="75000"/>
                  </a:schemeClr>
                </a:solidFill>
              </a:rPr>
              <a:t> </a:t>
            </a:r>
            <a:r>
              <a:rPr lang="en-US" altLang="zh-CN" sz="1600" dirty="0">
                <a:solidFill>
                  <a:schemeClr val="bg1">
                    <a:lumMod val="75000"/>
                  </a:schemeClr>
                </a:solidFill>
              </a:rPr>
              <a:t>Account</a:t>
            </a:r>
            <a:r>
              <a:rPr lang="zh-CN" altLang="en-US" sz="1600" dirty="0">
                <a:solidFill>
                  <a:schemeClr val="bg1">
                    <a:lumMod val="75000"/>
                  </a:schemeClr>
                </a:solidFill>
              </a:rPr>
              <a:t> </a:t>
            </a:r>
            <a:r>
              <a:rPr lang="en-US" altLang="zh-CN" sz="1600" dirty="0">
                <a:solidFill>
                  <a:schemeClr val="bg1">
                    <a:lumMod val="75000"/>
                  </a:schemeClr>
                </a:solidFill>
              </a:rPr>
              <a:t>Manager</a:t>
            </a:r>
            <a:endParaRPr lang="en-US" sz="1600" dirty="0">
              <a:solidFill>
                <a:schemeClr val="bg1">
                  <a:lumMod val="75000"/>
                </a:schemeClr>
              </a:solidFill>
            </a:endParaRPr>
          </a:p>
        </p:txBody>
      </p:sp>
      <p:sp>
        <p:nvSpPr>
          <p:cNvPr id="2" name="Rectangle 1"/>
          <p:cNvSpPr/>
          <p:nvPr/>
        </p:nvSpPr>
        <p:spPr>
          <a:xfrm>
            <a:off x="3048000" y="3167390"/>
            <a:ext cx="6096000" cy="523220"/>
          </a:xfrm>
          <a:prstGeom prst="rect">
            <a:avLst/>
          </a:prstGeom>
        </p:spPr>
        <p:txBody>
          <a:bodyPr>
            <a:spAutoFit/>
          </a:bodyPr>
          <a:lstStyle/>
          <a:p>
            <a:r>
              <a:rPr lang="en-US" altLang="zh-CN" b="1" dirty="0"/>
              <a:t>ECR </a:t>
            </a:r>
            <a:r>
              <a:rPr lang="zh-CN" altLang="en-US" b="1" dirty="0"/>
              <a:t>现在支持由光环新网运营的 </a:t>
            </a:r>
            <a:r>
              <a:rPr lang="en-US" altLang="zh-CN" b="1" dirty="0"/>
              <a:t>AWS </a:t>
            </a:r>
            <a:r>
              <a:rPr lang="zh-CN" altLang="en-US" b="1" dirty="0"/>
              <a:t>中国（北京）区域和由西云数据运营的 </a:t>
            </a:r>
            <a:r>
              <a:rPr lang="en-US" altLang="zh-CN" b="1" dirty="0"/>
              <a:t>AWS </a:t>
            </a:r>
            <a:r>
              <a:rPr lang="zh-CN" altLang="en-US" b="1" dirty="0"/>
              <a:t>中国（宁夏）区域中的清单列表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
        <p:nvSpPr>
          <p:cNvPr id="15" name="Rectangle 14">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17" name="Rectangle 16">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25979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
        <p:nvSpPr>
          <p:cNvPr id="14" name="Rectangle 13">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8832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16</a:t>
            </a:r>
            <a:r>
              <a:rPr lang="zh-CN" altLang="en-US" sz="1600" b="0" i="0" dirty="0">
                <a:effectLst/>
                <a:latin typeface="Helvetica" panose="020B0604020202020204" pitchFamily="34" charset="0"/>
              </a:rPr>
              <a:t>日</a:t>
            </a:r>
          </a:p>
          <a:p>
            <a:pPr algn="l"/>
            <a:r>
              <a:rPr lang="zh-CN" altLang="en-US" sz="1600" b="0" i="0" dirty="0">
                <a:effectLst/>
                <a:latin typeface="Helvetica" panose="020B0604020202020204" pitchFamily="34" charset="0"/>
              </a:rPr>
              <a:t>亚马逊网络服务宣布为 </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Amazon Kinesis Video Streams</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Amazon KVS</a:t>
            </a:r>
            <a:r>
              <a:rPr lang="zh-CN" altLang="en-US" sz="1600" b="0" i="0" dirty="0">
                <a:effectLst/>
                <a:latin typeface="Helvetica" panose="020B0604020202020204" pitchFamily="34" charset="0"/>
              </a:rPr>
              <a:t>）提供新的暖存储层，为延长媒体保留期提供经济实惠的存储。标准 </a:t>
            </a:r>
            <a:r>
              <a:rPr lang="en-US" altLang="zh-CN" sz="1600" b="0" i="0" dirty="0">
                <a:effectLst/>
                <a:latin typeface="Helvetica" panose="020B0604020202020204" pitchFamily="34" charset="0"/>
              </a:rPr>
              <a:t>Amazon KVS </a:t>
            </a:r>
            <a:r>
              <a:rPr lang="zh-CN" altLang="en-US" sz="1600" b="0" i="0" dirty="0">
                <a:effectLst/>
                <a:latin typeface="Helvetica" panose="020B0604020202020204" pitchFamily="34" charset="0"/>
              </a:rPr>
              <a:t>存储层现已被指定为热存储层，仍针对实时数据访问和短期存储持续优化。新的暖存储层可实现长期媒体保留，访问延迟为亚秒级，同时降低了存储成本。</a:t>
            </a:r>
            <a:br>
              <a:rPr lang="zh-CN" altLang="en-US" sz="1600" b="0" i="0" dirty="0">
                <a:effectLst/>
                <a:latin typeface="Helvetica" panose="020B0604020202020204" pitchFamily="34" charset="0"/>
              </a:rPr>
            </a:br>
            <a:br>
              <a:rPr lang="zh-CN" altLang="en-US" sz="1600" b="0" i="0" dirty="0">
                <a:effectLst/>
                <a:latin typeface="Helvetica" panose="020B0604020202020204" pitchFamily="34" charset="0"/>
              </a:rPr>
            </a:br>
            <a:r>
              <a:rPr lang="zh-CN" altLang="en-US" sz="1600" b="0" i="0" dirty="0">
                <a:effectLst/>
                <a:latin typeface="Helvetica" panose="020B0604020202020204" pitchFamily="34" charset="0"/>
              </a:rPr>
              <a:t>暖存储层使家庭安全和企业视频监控解决方案的开发人员能够经济高效地传输来自设备、摄像头和手机的数据，同时保持较长的视频分析和监管合规保留期。此外，开发人员现在可以根据其特定要求灵活地配置片段大小，为较低延迟的使用案例选择较小的片段，或者选择较大的片段来降低摄取成本。热存储层和暖存储层均可与 </a:t>
            </a:r>
            <a:r>
              <a:rPr lang="en-US" altLang="zh-CN" sz="1600" b="0" i="0" dirty="0">
                <a:effectLst/>
                <a:latin typeface="Helvetica" panose="020B0604020202020204" pitchFamily="34" charset="0"/>
              </a:rPr>
              <a:t>Amazon </a:t>
            </a:r>
            <a:r>
              <a:rPr lang="en-US" altLang="zh-CN" sz="1600" b="0" i="0" dirty="0" err="1">
                <a:effectLst/>
                <a:latin typeface="Helvetica" panose="020B0604020202020204" pitchFamily="34" charset="0"/>
              </a:rPr>
              <a:t>Rekognition</a:t>
            </a:r>
            <a:r>
              <a:rPr lang="en-US" altLang="zh-CN" sz="1600" b="0" i="0" dirty="0">
                <a:effectLst/>
                <a:latin typeface="Helvetica" panose="020B0604020202020204" pitchFamily="34" charset="0"/>
              </a:rPr>
              <a:t> Video </a:t>
            </a:r>
            <a:r>
              <a:rPr lang="zh-CN" altLang="en-US" sz="1600" b="0" i="0" dirty="0">
                <a:effectLst/>
                <a:latin typeface="Helvetica" panose="020B0604020202020204" pitchFamily="34" charset="0"/>
              </a:rPr>
              <a:t>和 </a:t>
            </a:r>
            <a:r>
              <a:rPr lang="en-US" altLang="zh-CN" sz="1600" b="0" i="0" dirty="0">
                <a:effectLst/>
                <a:latin typeface="Helvetica" panose="020B0604020202020204" pitchFamily="34" charset="0"/>
              </a:rPr>
              <a:t>Amazon </a:t>
            </a:r>
            <a:r>
              <a:rPr lang="en-US" altLang="zh-CN" sz="1600" b="0" i="0" dirty="0" err="1">
                <a:effectLst/>
                <a:latin typeface="Helvetica" panose="020B0604020202020204" pitchFamily="34" charset="0"/>
              </a:rPr>
              <a:t>SageMaker</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无缝集成，从而实现持续的数据处理，以支持计算机视觉和视频分析应用程序的创建。</a:t>
            </a:r>
            <a:br>
              <a:rPr lang="zh-CN" altLang="en-US" sz="1600" b="0" i="0" dirty="0">
                <a:effectLst/>
                <a:latin typeface="Helvetica" panose="020B0604020202020204" pitchFamily="34" charset="0"/>
              </a:rPr>
            </a:br>
            <a:br>
              <a:rPr lang="zh-CN" altLang="en-US" sz="1600" b="0" i="0" dirty="0">
                <a:effectLst/>
                <a:latin typeface="Helvetica" panose="020B0604020202020204" pitchFamily="34" charset="0"/>
              </a:rPr>
            </a:br>
            <a:r>
              <a:rPr lang="zh-CN" altLang="en-US" sz="1600" b="0" i="0" dirty="0">
                <a:effectLst/>
                <a:latin typeface="Helvetica" panose="020B0604020202020204" pitchFamily="34" charset="0"/>
              </a:rPr>
              <a:t>带有新的暖存储层的 </a:t>
            </a:r>
            <a:r>
              <a:rPr lang="en-US" altLang="zh-CN" sz="1600" b="0" i="0" dirty="0">
                <a:effectLst/>
                <a:latin typeface="Helvetica" panose="020B0604020202020204" pitchFamily="34" charset="0"/>
              </a:rPr>
              <a:t>Amazon Kinesis Video Streams </a:t>
            </a:r>
            <a:r>
              <a:rPr lang="zh-CN" altLang="en-US" sz="1600" b="0" i="0" dirty="0">
                <a:effectLst/>
                <a:latin typeface="Helvetica" panose="020B0604020202020204" pitchFamily="34" charset="0"/>
              </a:rPr>
              <a:t>已在提供 </a:t>
            </a:r>
            <a:r>
              <a:rPr lang="en-US" altLang="zh-CN" sz="1600" b="0" i="0" dirty="0">
                <a:effectLst/>
                <a:latin typeface="Helvetica" panose="020B0604020202020204" pitchFamily="34" charset="0"/>
              </a:rPr>
              <a:t>Amazon Kinesis Video Streams </a:t>
            </a:r>
            <a:r>
              <a:rPr lang="zh-CN" altLang="en-US" sz="1600" b="0" i="0" dirty="0">
                <a:effectLst/>
                <a:latin typeface="Helvetica" panose="020B0604020202020204" pitchFamily="34" charset="0"/>
              </a:rPr>
              <a:t>的所有区域推出，包括由光环新网运营的亚马逊云科技中国（北京）区域。</a:t>
            </a:r>
            <a:br>
              <a:rPr lang="zh-CN" altLang="en-US" sz="1600" b="0" i="0" dirty="0">
                <a:effectLst/>
                <a:latin typeface="Helvetica" panose="020B0604020202020204" pitchFamily="34" charset="0"/>
              </a:rPr>
            </a:br>
            <a:br>
              <a:rPr lang="zh-CN" altLang="en-US" sz="1600" b="0" i="0" dirty="0">
                <a:effectLst/>
                <a:latin typeface="Helvetica" panose="020B0604020202020204" pitchFamily="34" charset="0"/>
              </a:rPr>
            </a:br>
            <a:r>
              <a:rPr lang="zh-CN" altLang="en-US" sz="1600" b="0" i="0" dirty="0">
                <a:effectLst/>
                <a:latin typeface="Helvetica" panose="020B0604020202020204" pitchFamily="34" charset="0"/>
              </a:rPr>
              <a:t>要了解更多信息，请参阅</a:t>
            </a:r>
            <a:r>
              <a:rPr lang="zh-CN" altLang="en-US"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入门指南</a:t>
            </a:r>
            <a:r>
              <a:rPr lang="zh-CN" altLang="en-US" sz="1600" b="0" i="0" dirty="0">
                <a:effectLst/>
                <a:latin typeface="Helvetica" panose="020B0604020202020204" pitchFamily="34" charset="0"/>
              </a:rPr>
              <a:t>。</a:t>
            </a:r>
            <a:endParaRPr lang="en-US" altLang="zh-CN" sz="1600" b="0" i="0" dirty="0">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a:p>
            <a:pPr algn="l"/>
            <a:r>
              <a:rPr lang="en-US" altLang="zh-CN" sz="1600" b="0" i="0" dirty="0">
                <a:solidFill>
                  <a:srgbClr val="2E3C4E"/>
                </a:solidFill>
                <a:effectLst/>
                <a:latin typeface="Helvetica" panose="020B0604020202020204" pitchFamily="34" charset="0"/>
                <a:hlinkClick r:id="rId4"/>
              </a:rPr>
              <a:t>https://www.amazonaws.cn/new/2025/amazon-kinesis-video-streams-supports-a-new-cost-effective-warm-storage-tier/</a:t>
            </a:r>
            <a:endParaRPr lang="en-US" altLang="zh-CN" sz="1600" b="0" i="0" dirty="0">
              <a:solidFill>
                <a:srgbClr val="2E3C4E"/>
              </a:solidFill>
              <a:effectLst/>
              <a:latin typeface="Helvetica" panose="020B0604020202020204" pitchFamily="34" charset="0"/>
            </a:endParaRPr>
          </a:p>
          <a:p>
            <a:pPr algn="l"/>
            <a:endParaRPr lang="zh-CN" altLang="en-US" sz="1600" b="0" i="0" dirty="0">
              <a:solidFill>
                <a:srgbClr val="2E3C4E"/>
              </a:solidFill>
              <a:effectLst/>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Kinesis Video Streams </a:t>
            </a:r>
            <a:r>
              <a:rPr lang="zh-CN" altLang="en-US" b="1" dirty="0"/>
              <a:t>现在支持新的具有成本效益的暖存储层</a:t>
            </a:r>
          </a:p>
        </p:txBody>
      </p:sp>
    </p:spTree>
    <p:extLst>
      <p:ext uri="{BB962C8B-B14F-4D97-AF65-F5344CB8AC3E}">
        <p14:creationId xmlns:p14="http://schemas.microsoft.com/office/powerpoint/2010/main" val="1125595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133952"/>
            <a:ext cx="2311400" cy="856396"/>
          </a:xfrm>
          <a:prstGeom prst="rect">
            <a:avLst/>
          </a:prstGeom>
          <a:solidFill>
            <a:srgbClr val="00B050">
              <a:alpha val="65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Storage  </a:t>
            </a:r>
            <a:r>
              <a:rPr lang="zh-CN" altLang="en-US" b="1" dirty="0"/>
              <a:t>存储</a:t>
            </a:r>
            <a:endParaRPr lang="en-US" b="1" dirty="0"/>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Tree>
    <p:extLst>
      <p:ext uri="{BB962C8B-B14F-4D97-AF65-F5344CB8AC3E}">
        <p14:creationId xmlns:p14="http://schemas.microsoft.com/office/powerpoint/2010/main" val="573365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18</a:t>
            </a:r>
            <a:r>
              <a:rPr lang="zh-CN" altLang="en-US" sz="1600" b="0" i="0" dirty="0">
                <a:effectLst/>
                <a:latin typeface="Helvetica" panose="020B0604020202020204" pitchFamily="34" charset="0"/>
              </a:rPr>
              <a:t>日</a:t>
            </a:r>
          </a:p>
          <a:p>
            <a:pPr algn="l"/>
            <a:r>
              <a:rPr lang="en-US" altLang="zh-CN" sz="1600" b="0" i="0" dirty="0">
                <a:effectLst/>
                <a:latin typeface="Helvetica" panose="020B0604020202020204" pitchFamily="34" charset="0"/>
              </a:rPr>
              <a:t>Amazon S3 </a:t>
            </a:r>
            <a:r>
              <a:rPr lang="zh-CN" altLang="en-US" sz="1600" b="0" i="0" dirty="0">
                <a:effectLst/>
                <a:latin typeface="Helvetica" panose="020B0604020202020204" pitchFamily="34" charset="0"/>
              </a:rPr>
              <a:t>表类数据存储服务提供了首个具有内置 </a:t>
            </a:r>
            <a:r>
              <a:rPr lang="en-US" altLang="zh-CN" sz="1600" b="0" i="0" dirty="0">
                <a:effectLst/>
                <a:latin typeface="Helvetica" panose="020B0604020202020204" pitchFamily="34" charset="0"/>
              </a:rPr>
              <a:t>Apache Iceberg </a:t>
            </a:r>
            <a:r>
              <a:rPr lang="zh-CN" altLang="en-US" sz="1600" b="0" i="0" dirty="0">
                <a:effectLst/>
                <a:latin typeface="Helvetica" panose="020B0604020202020204" pitchFamily="34" charset="0"/>
              </a:rPr>
              <a:t>支持的云对象存储，也是大规模存储表格数据的最简单方法。</a:t>
            </a:r>
            <a:r>
              <a:rPr lang="en-US" altLang="zh-CN" sz="1600" b="0" i="0" dirty="0">
                <a:effectLst/>
                <a:latin typeface="Helvetica" panose="020B0604020202020204" pitchFamily="34" charset="0"/>
              </a:rPr>
              <a:t>S3 </a:t>
            </a:r>
            <a:r>
              <a:rPr lang="zh-CN" altLang="en-US" sz="1600" b="0" i="0" dirty="0">
                <a:effectLst/>
                <a:latin typeface="Helvetica" panose="020B0604020202020204" pitchFamily="34" charset="0"/>
              </a:rPr>
              <a:t>表类数据存储服务专门针对分析工作负载进行了优化，可提高查询性能，与存储在通用 </a:t>
            </a:r>
            <a:r>
              <a:rPr lang="en-US" altLang="zh-CN" sz="1600" b="0" i="0" dirty="0">
                <a:effectLst/>
                <a:latin typeface="Helvetica" panose="020B0604020202020204" pitchFamily="34" charset="0"/>
              </a:rPr>
              <a:t>S3 </a:t>
            </a:r>
            <a:r>
              <a:rPr lang="zh-CN" altLang="en-US" sz="1600" b="0" i="0" dirty="0">
                <a:effectLst/>
                <a:latin typeface="Helvetica" panose="020B0604020202020204" pitchFamily="34" charset="0"/>
              </a:rPr>
              <a:t>存储桶中的 </a:t>
            </a:r>
            <a:r>
              <a:rPr lang="en-US" altLang="zh-CN" sz="1600" b="0" i="0" dirty="0">
                <a:effectLst/>
                <a:latin typeface="Helvetica" panose="020B0604020202020204" pitchFamily="34" charset="0"/>
              </a:rPr>
              <a:t>Iceberg </a:t>
            </a:r>
            <a:r>
              <a:rPr lang="zh-CN" altLang="en-US" sz="1600" b="0" i="0" dirty="0">
                <a:effectLst/>
                <a:latin typeface="Helvetica" panose="020B0604020202020204" pitchFamily="34" charset="0"/>
              </a:rPr>
              <a:t>表相比，每秒处理的事务数量可增加到最多 </a:t>
            </a:r>
            <a:r>
              <a:rPr lang="en-US" altLang="zh-CN" sz="1600" b="0" i="0" dirty="0">
                <a:effectLst/>
                <a:latin typeface="Helvetica" panose="020B0604020202020204" pitchFamily="34" charset="0"/>
              </a:rPr>
              <a:t>10 </a:t>
            </a:r>
            <a:r>
              <a:rPr lang="zh-CN" altLang="en-US" sz="1600" b="0" i="0" dirty="0">
                <a:effectLst/>
                <a:latin typeface="Helvetica" panose="020B0604020202020204" pitchFamily="34" charset="0"/>
              </a:rPr>
              <a:t>倍。借助为 </a:t>
            </a:r>
            <a:r>
              <a:rPr lang="en-US" altLang="zh-CN" sz="1600" b="0" i="0" dirty="0">
                <a:effectLst/>
                <a:latin typeface="Helvetica" panose="020B0604020202020204" pitchFamily="34" charset="0"/>
              </a:rPr>
              <a:t>Apache Iceberg </a:t>
            </a:r>
            <a:r>
              <a:rPr lang="zh-CN" altLang="en-US" sz="1600" b="0" i="0" dirty="0">
                <a:effectLst/>
                <a:latin typeface="Helvetica" panose="020B0604020202020204" pitchFamily="34" charset="0"/>
              </a:rPr>
              <a:t>标准版提供的 </a:t>
            </a:r>
            <a:r>
              <a:rPr lang="en-US" altLang="zh-CN" sz="1600" b="0" i="0" dirty="0">
                <a:effectLst/>
                <a:latin typeface="Helvetica" panose="020B0604020202020204" pitchFamily="34" charset="0"/>
              </a:rPr>
              <a:t>S3 </a:t>
            </a:r>
            <a:r>
              <a:rPr lang="zh-CN" altLang="en-US" sz="1600" b="0" i="0" dirty="0">
                <a:effectLst/>
                <a:latin typeface="Helvetica" panose="020B0604020202020204" pitchFamily="34" charset="0"/>
              </a:rPr>
              <a:t>表类数据存储服务支持，常用的亚马逊云科技查询引擎和第三方查询引擎可以轻松查询您的表格数据。此外，</a:t>
            </a:r>
            <a:r>
              <a:rPr lang="en-US" altLang="zh-CN" sz="1600" b="0" i="0" dirty="0">
                <a:effectLst/>
                <a:latin typeface="Helvetica" panose="020B0604020202020204" pitchFamily="34" charset="0"/>
              </a:rPr>
              <a:t>S3 </a:t>
            </a:r>
            <a:r>
              <a:rPr lang="zh-CN" altLang="en-US" sz="1600" b="0" i="0" dirty="0">
                <a:effectLst/>
                <a:latin typeface="Helvetica" panose="020B0604020202020204" pitchFamily="34" charset="0"/>
              </a:rPr>
              <a:t>表类数据存储服务旨在执行持续的表维护，以便随着时间的推移自动优化查询效率和存储成本，即使您的数据湖在不断扩展和演变。</a:t>
            </a:r>
            <a:r>
              <a:rPr lang="en-US" altLang="zh-CN" sz="1600" b="0" i="0" dirty="0">
                <a:effectLst/>
                <a:latin typeface="Helvetica" panose="020B0604020202020204" pitchFamily="34" charset="0"/>
              </a:rPr>
              <a:t>S3 </a:t>
            </a:r>
            <a:r>
              <a:rPr lang="zh-CN" altLang="en-US" sz="1600" b="0" i="0" dirty="0">
                <a:effectLst/>
                <a:latin typeface="Helvetica" panose="020B0604020202020204" pitchFamily="34" charset="0"/>
              </a:rPr>
              <a:t>表类数据存储服务与 </a:t>
            </a:r>
            <a:r>
              <a:rPr lang="en-US" altLang="zh-CN" sz="1600" b="0" i="0" dirty="0">
                <a:effectLst/>
                <a:latin typeface="Helvetica" panose="020B0604020202020204" pitchFamily="34" charset="0"/>
              </a:rPr>
              <a:t>Amazon Glue </a:t>
            </a:r>
            <a:r>
              <a:rPr lang="zh-CN" altLang="en-US" sz="1600" b="0" i="0" dirty="0">
                <a:effectLst/>
                <a:latin typeface="Helvetica" panose="020B0604020202020204" pitchFamily="34" charset="0"/>
              </a:rPr>
              <a:t>数据目录集成，这样，您就可以使用 </a:t>
            </a:r>
            <a:r>
              <a:rPr lang="en-US" altLang="zh-CN" sz="1600" b="0" i="0" dirty="0">
                <a:effectLst/>
                <a:latin typeface="Helvetica" panose="020B0604020202020204" pitchFamily="34" charset="0"/>
              </a:rPr>
              <a:t>Amazon Data Firehose</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Athena</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Redshift</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EMR </a:t>
            </a:r>
            <a:r>
              <a:rPr lang="zh-CN" altLang="en-US" sz="1600" b="0" i="0" dirty="0">
                <a:effectLst/>
                <a:latin typeface="Helvetica" panose="020B0604020202020204" pitchFamily="34" charset="0"/>
              </a:rPr>
              <a:t>和 </a:t>
            </a:r>
            <a:r>
              <a:rPr lang="en-US" altLang="zh-CN" sz="1600" b="0" i="0" dirty="0" err="1">
                <a:effectLst/>
                <a:latin typeface="Helvetica" panose="020B0604020202020204" pitchFamily="34" charset="0"/>
              </a:rPr>
              <a:t>QuickSight</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等亚马逊云科技分析服务来流式传输、查询和可视化数据。</a:t>
            </a:r>
          </a:p>
          <a:p>
            <a:pPr algn="l"/>
            <a:r>
              <a:rPr lang="en-US" altLang="zh-CN" sz="1600" b="0" i="0" dirty="0">
                <a:effectLst/>
                <a:latin typeface="Helvetica" panose="020B0604020202020204" pitchFamily="34" charset="0"/>
              </a:rPr>
              <a:t>S3 </a:t>
            </a:r>
            <a:r>
              <a:rPr lang="zh-CN" altLang="en-US" sz="1600" b="0" i="0" dirty="0">
                <a:effectLst/>
                <a:latin typeface="Helvetica" panose="020B0604020202020204" pitchFamily="34" charset="0"/>
              </a:rPr>
              <a:t>表类数据存储服务推出了表存储桶，这是一种专为存储表格数据而构建的存储桶类型。使用表存储桶，您可以快速创建表并设置表级权限，以便管理对数据湖的访问权限。随后，您可以使用标准 </a:t>
            </a:r>
            <a:r>
              <a:rPr lang="en-US" altLang="zh-CN" sz="1600" b="0" i="0" dirty="0">
                <a:effectLst/>
                <a:latin typeface="Helvetica" panose="020B0604020202020204" pitchFamily="34" charset="0"/>
              </a:rPr>
              <a:t>SQL </a:t>
            </a:r>
            <a:r>
              <a:rPr lang="zh-CN" altLang="en-US" sz="1600" b="0" i="0" dirty="0">
                <a:effectLst/>
                <a:latin typeface="Helvetica" panose="020B0604020202020204" pitchFamily="34" charset="0"/>
              </a:rPr>
              <a:t>在表中加载和查询数据，并使用 </a:t>
            </a:r>
            <a:r>
              <a:rPr lang="en-US" altLang="zh-CN" sz="1600" b="0" i="0" dirty="0">
                <a:effectLst/>
                <a:latin typeface="Helvetica" panose="020B0604020202020204" pitchFamily="34" charset="0"/>
              </a:rPr>
              <a:t>Apache Iceberg </a:t>
            </a:r>
            <a:r>
              <a:rPr lang="zh-CN" altLang="en-US" sz="1600" b="0" i="0" dirty="0">
                <a:effectLst/>
                <a:latin typeface="Helvetica" panose="020B0604020202020204" pitchFamily="34" charset="0"/>
              </a:rPr>
              <a:t>的高级分析功能，例如行级事务、可查询的快照、架构演变等等。表存储桶还提供了策略驱动型表维护，可帮助您自动执行一些操作任务，例如进行压缩、管理快照和移除未引用的文件。</a:t>
            </a:r>
          </a:p>
          <a:p>
            <a:pPr algn="l"/>
            <a:r>
              <a:rPr lang="en-US" altLang="zh-CN" sz="1600" b="0" i="0" dirty="0">
                <a:effectLst/>
                <a:latin typeface="Helvetica" panose="020B0604020202020204" pitchFamily="34" charset="0"/>
              </a:rPr>
              <a:t>Amazon S3 </a:t>
            </a:r>
            <a:r>
              <a:rPr lang="zh-CN" altLang="en-US" sz="1600" b="0" i="0" dirty="0">
                <a:effectLst/>
                <a:latin typeface="Helvetica" panose="020B0604020202020204" pitchFamily="34" charset="0"/>
              </a:rPr>
              <a:t>表类数据存储服务现已在由光环新网运营的亚马逊云科技中国（北京）区域和由西云数据运营的亚马逊云科技中国（宁夏）区域中推出。有关定价详细信息，请访问 </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S3 </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定价页面</a:t>
            </a:r>
            <a:r>
              <a:rPr lang="zh-CN" altLang="en-US" sz="1600" b="0" i="0" dirty="0">
                <a:effectLst/>
                <a:latin typeface="Helvetica" panose="020B0604020202020204" pitchFamily="34" charset="0"/>
              </a:rPr>
              <a:t>。要了解更多信息，请访问</a:t>
            </a:r>
            <a:r>
              <a:rPr lang="zh-CN" altLang="en-US"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产品页面</a:t>
            </a:r>
            <a:r>
              <a:rPr lang="zh-CN" altLang="en-US" sz="1600" b="0" i="0" dirty="0">
                <a:effectLst/>
                <a:latin typeface="Helvetica" panose="020B0604020202020204" pitchFamily="34" charset="0"/>
              </a:rPr>
              <a:t>和</a:t>
            </a:r>
            <a:r>
              <a:rPr lang="zh-CN" altLang="en-US" sz="1600" b="0" i="0" u="sng" dirty="0">
                <a:effectLst/>
                <a:latin typeface="Helvetica" panose="020B0604020202020204" pitchFamily="34" charset="0"/>
                <a:hlinkClick r:id="rId4">
                  <a:extLst>
                    <a:ext uri="{A12FA001-AC4F-418D-AE19-62706E023703}">
                      <ahyp:hlinkClr xmlns:ahyp="http://schemas.microsoft.com/office/drawing/2018/hyperlinkcolor" val="tx"/>
                    </a:ext>
                  </a:extLst>
                </a:hlinkClick>
              </a:rPr>
              <a:t>文档</a:t>
            </a:r>
            <a:r>
              <a:rPr lang="zh-CN" altLang="en-US" sz="1600" b="0" i="0" dirty="0">
                <a:effectLst/>
                <a:latin typeface="Helvetica" panose="020B0604020202020204" pitchFamily="34" charset="0"/>
              </a:rPr>
              <a:t>。</a:t>
            </a:r>
            <a:endParaRPr lang="en-US" altLang="zh-CN" sz="1600" b="0" i="0" dirty="0">
              <a:effectLst/>
              <a:latin typeface="Helvetica" panose="020B0604020202020204" pitchFamily="34" charset="0"/>
            </a:endParaRPr>
          </a:p>
          <a:p>
            <a:pPr algn="l"/>
            <a:endParaRPr lang="en-US" altLang="zh-CN" sz="1600" dirty="0">
              <a:latin typeface="Helvetica" panose="020B0604020202020204" pitchFamily="34" charset="0"/>
            </a:endParaRPr>
          </a:p>
          <a:p>
            <a:pPr algn="l"/>
            <a:r>
              <a:rPr lang="en-US" altLang="zh-CN" sz="1600" b="0" i="0" dirty="0">
                <a:effectLst/>
                <a:latin typeface="Helvetica" panose="020B0604020202020204" pitchFamily="34" charset="0"/>
                <a:hlinkClick r:id="rId5"/>
              </a:rPr>
              <a:t>https://www.amazonaws.cn/new/2025/announcing-amazon-s3-tables/</a:t>
            </a:r>
            <a:endParaRPr lang="en-US" altLang="zh-CN" sz="1600" b="0" i="0" dirty="0">
              <a:effectLst/>
              <a:latin typeface="Helvetica" panose="020B0604020202020204" pitchFamily="34" charset="0"/>
            </a:endParaRPr>
          </a:p>
          <a:p>
            <a:pPr algn="l"/>
            <a:endParaRPr lang="en-US" altLang="zh-CN" sz="1600" b="0" i="0" dirty="0">
              <a:effectLst/>
              <a:latin typeface="Helvetica" panose="020B0604020202020204" pitchFamily="34" charset="0"/>
            </a:endParaRPr>
          </a:p>
          <a:p>
            <a:pPr algn="l"/>
            <a:endParaRPr lang="en-US" altLang="zh-CN" sz="1600" dirty="0">
              <a:latin typeface="Helvetica" panose="020B0604020202020204" pitchFamily="34" charset="0"/>
            </a:endParaRPr>
          </a:p>
          <a:p>
            <a:pPr algn="l"/>
            <a:endParaRPr lang="zh-CN" altLang="en-US" sz="1600" b="0" i="0" dirty="0">
              <a:effectLst/>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zh-CN" altLang="en-US" b="1" dirty="0"/>
              <a:t>宣布推出 </a:t>
            </a:r>
            <a:r>
              <a:rPr lang="en-US" altLang="zh-CN" b="1" dirty="0"/>
              <a:t>Amazon S3 </a:t>
            </a:r>
            <a:r>
              <a:rPr lang="zh-CN" altLang="en-US" b="1" dirty="0"/>
              <a:t>表类数据存储服务 </a:t>
            </a:r>
            <a:r>
              <a:rPr lang="en-US" altLang="zh-CN" b="1" dirty="0"/>
              <a:t>– </a:t>
            </a:r>
            <a:r>
              <a:rPr lang="zh-CN" altLang="en-US" b="1" dirty="0"/>
              <a:t>针对分析工作负载进行了优化的完全托管式 </a:t>
            </a:r>
            <a:r>
              <a:rPr lang="en-US" altLang="zh-CN" b="1" dirty="0"/>
              <a:t>Apache Iceberg </a:t>
            </a:r>
            <a:r>
              <a:rPr lang="zh-CN" altLang="en-US" b="1" dirty="0"/>
              <a:t>表</a:t>
            </a:r>
          </a:p>
        </p:txBody>
      </p:sp>
    </p:spTree>
    <p:extLst>
      <p:ext uri="{BB962C8B-B14F-4D97-AF65-F5344CB8AC3E}">
        <p14:creationId xmlns:p14="http://schemas.microsoft.com/office/powerpoint/2010/main" val="2678793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accent6">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
        <p:nvSpPr>
          <p:cNvPr id="14" name="Rectangle 13">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586213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r>
              <a:rPr lang="zh-CN" altLang="en-US" sz="1600" dirty="0"/>
              <a:t>发布于</a:t>
            </a:r>
            <a:r>
              <a:rPr lang="en-US" altLang="zh-CN" sz="1600" dirty="0"/>
              <a:t>: 2025</a:t>
            </a:r>
            <a:r>
              <a:rPr lang="zh-CN" altLang="en-US" sz="1600" dirty="0"/>
              <a:t>年</a:t>
            </a:r>
            <a:r>
              <a:rPr lang="en-US" altLang="zh-CN" sz="1600" dirty="0"/>
              <a:t>12</a:t>
            </a:r>
            <a:r>
              <a:rPr lang="zh-CN" altLang="en-US" sz="1600" dirty="0"/>
              <a:t>月</a:t>
            </a:r>
            <a:r>
              <a:rPr lang="en-US" altLang="zh-CN" sz="1600" dirty="0"/>
              <a:t>29</a:t>
            </a:r>
            <a:r>
              <a:rPr lang="zh-CN" altLang="en-US" sz="1600" dirty="0"/>
              <a:t>日</a:t>
            </a:r>
          </a:p>
          <a:p>
            <a:r>
              <a:rPr lang="en-US" altLang="zh-CN" sz="1600" dirty="0"/>
              <a:t>Amazon Elastic Container Registry</a:t>
            </a:r>
            <a:r>
              <a:rPr lang="zh-CN" altLang="en-US" sz="1600" dirty="0"/>
              <a:t>（</a:t>
            </a:r>
            <a:r>
              <a:rPr lang="en-US" altLang="zh-CN" sz="1600" dirty="0"/>
              <a:t>ECR</a:t>
            </a:r>
            <a:r>
              <a:rPr lang="zh-CN" altLang="en-US" sz="1600" dirty="0"/>
              <a:t>）现在支持在推送映像时自动创建存储库。这项新功能可以简化容器工作流程：让 </a:t>
            </a:r>
            <a:r>
              <a:rPr lang="en-US" altLang="zh-CN" sz="1600" dirty="0"/>
              <a:t>ECR </a:t>
            </a:r>
            <a:r>
              <a:rPr lang="zh-CN" altLang="en-US" sz="1600" dirty="0"/>
              <a:t>在推送映像时自动创建存储库（如果存储库不存在），而无需客户在推送容器映像前预先创建存储库。现在，当客户推送映像时，</a:t>
            </a:r>
            <a:r>
              <a:rPr lang="en-US" altLang="zh-CN" sz="1600" dirty="0"/>
              <a:t>ECR </a:t>
            </a:r>
            <a:r>
              <a:rPr lang="zh-CN" altLang="en-US" sz="1600" dirty="0"/>
              <a:t>会根据定义的存储库创建模板设置自动创建存储库。</a:t>
            </a:r>
            <a:br>
              <a:rPr lang="zh-CN" altLang="en-US" sz="1600" dirty="0"/>
            </a:br>
            <a:br>
              <a:rPr lang="zh-CN" altLang="en-US" sz="1600" dirty="0"/>
            </a:br>
            <a:r>
              <a:rPr lang="zh-CN" altLang="en-US" sz="1600" dirty="0"/>
              <a:t>推送时创建功能已在由光环新网运营的亚马逊云科技中国（北京）区域和由西云数据运营的亚马逊云科技中国（宁夏）区域推出。要了解有关存储库创建模板的更多信息，请访问我们的</a:t>
            </a:r>
            <a:r>
              <a:rPr lang="zh-CN" altLang="en-US" sz="1600" dirty="0">
                <a:hlinkClick r:id="rId2">
                  <a:extLst>
                    <a:ext uri="{A12FA001-AC4F-418D-AE19-62706E023703}">
                      <ahyp:hlinkClr xmlns:ahyp="http://schemas.microsoft.com/office/drawing/2018/hyperlinkcolor" val="tx"/>
                    </a:ext>
                  </a:extLst>
                </a:hlinkClick>
              </a:rPr>
              <a:t>文档</a:t>
            </a:r>
            <a:r>
              <a:rPr lang="zh-CN" altLang="en-US" sz="1600" dirty="0"/>
              <a:t>。您可以从我们的</a:t>
            </a:r>
            <a:r>
              <a:rPr lang="zh-CN" altLang="en-US" sz="1600" dirty="0">
                <a:hlinkClick r:id="rId3">
                  <a:extLst>
                    <a:ext uri="{A12FA001-AC4F-418D-AE19-62706E023703}">
                      <ahyp:hlinkClr xmlns:ahyp="http://schemas.microsoft.com/office/drawing/2018/hyperlinkcolor" val="tx"/>
                    </a:ext>
                  </a:extLst>
                </a:hlinkClick>
              </a:rPr>
              <a:t>产品页面</a:t>
            </a:r>
            <a:r>
              <a:rPr lang="zh-CN" altLang="en-US" sz="1600" dirty="0"/>
              <a:t>和</a:t>
            </a:r>
            <a:r>
              <a:rPr lang="zh-CN" altLang="en-US" sz="1600" dirty="0">
                <a:hlinkClick r:id="rId4">
                  <a:extLst>
                    <a:ext uri="{A12FA001-AC4F-418D-AE19-62706E023703}">
                      <ahyp:hlinkClr xmlns:ahyp="http://schemas.microsoft.com/office/drawing/2018/hyperlinkcolor" val="tx"/>
                    </a:ext>
                  </a:extLst>
                </a:hlinkClick>
              </a:rPr>
              <a:t>用户指南</a:t>
            </a:r>
            <a:r>
              <a:rPr lang="zh-CN" altLang="en-US" sz="1600" dirty="0"/>
              <a:t>中了解有关使用 </a:t>
            </a:r>
            <a:r>
              <a:rPr lang="en-US" altLang="zh-CN" sz="1600" dirty="0"/>
              <a:t>Amazon ECR </a:t>
            </a:r>
            <a:r>
              <a:rPr lang="zh-CN" altLang="en-US" sz="1600" dirty="0"/>
              <a:t>存储、管理及部署容器映像和构件的更多信息，包括如何入门。</a:t>
            </a:r>
          </a:p>
          <a:p>
            <a:endParaRPr lang="en-US" altLang="zh-CN" sz="1600" dirty="0"/>
          </a:p>
          <a:p>
            <a:r>
              <a:rPr lang="en-US" altLang="zh-CN" sz="1600" dirty="0">
                <a:hlinkClick r:id="rId5"/>
              </a:rPr>
              <a:t>https://www.amazonaws.cn/new/2025/amazon-ecr-supports-creating-repositories-on-push/</a:t>
            </a:r>
            <a:endParaRPr lang="en-US" altLang="zh-CN" sz="1600" dirty="0"/>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ECR </a:t>
            </a:r>
            <a:r>
              <a:rPr lang="zh-CN" altLang="en-US" b="1" dirty="0"/>
              <a:t>现已在亚马逊云科技中国区域支持推送时创建存储库的功能</a:t>
            </a:r>
          </a:p>
        </p:txBody>
      </p:sp>
    </p:spTree>
    <p:extLst>
      <p:ext uri="{BB962C8B-B14F-4D97-AF65-F5344CB8AC3E}">
        <p14:creationId xmlns:p14="http://schemas.microsoft.com/office/powerpoint/2010/main" val="2686041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
        <p:nvSpPr>
          <p:cNvPr id="14" name="Rectangle 13">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4741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19</a:t>
            </a:r>
            <a:r>
              <a:rPr lang="zh-CN" altLang="en-US" sz="1600" b="0" i="0" dirty="0">
                <a:effectLst/>
                <a:latin typeface="Helvetica" panose="020B0604020202020204" pitchFamily="34" charset="0"/>
              </a:rPr>
              <a:t>日</a:t>
            </a:r>
          </a:p>
          <a:p>
            <a:pPr algn="l"/>
            <a:r>
              <a:rPr lang="en-US" altLang="zh-CN" sz="1600" b="0" i="0" dirty="0">
                <a:effectLst/>
                <a:latin typeface="Helvetica" panose="020B0604020202020204" pitchFamily="34" charset="0"/>
              </a:rPr>
              <a:t>Amazon Relational Database Service</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RDS</a:t>
            </a:r>
            <a:r>
              <a:rPr lang="zh-CN" altLang="en-US" sz="1600" b="0" i="0" dirty="0">
                <a:effectLst/>
                <a:latin typeface="Helvetica" panose="020B0604020202020204" pitchFamily="34" charset="0"/>
              </a:rPr>
              <a:t>）现在为您的快照导出到 </a:t>
            </a:r>
            <a:r>
              <a:rPr lang="en-US" altLang="zh-CN" sz="1600" b="0" i="0" dirty="0">
                <a:effectLst/>
                <a:latin typeface="Helvetica" panose="020B0604020202020204" pitchFamily="34" charset="0"/>
              </a:rPr>
              <a:t>Amazon S3 </a:t>
            </a:r>
            <a:r>
              <a:rPr lang="zh-CN" altLang="en-US" sz="1600" b="0" i="0" dirty="0">
                <a:effectLst/>
                <a:latin typeface="Helvetica" panose="020B0604020202020204" pitchFamily="34" charset="0"/>
              </a:rPr>
              <a:t>提供增强的可观测性，从而提供有关导出进度、失败和每项任务性能的详细洞察。通过这些通知，您能够更精细地监控导出，并提高可预测性。</a:t>
            </a:r>
          </a:p>
          <a:p>
            <a:pPr algn="l"/>
            <a:r>
              <a:rPr lang="zh-CN" altLang="en-US" sz="1600" b="0" i="0" dirty="0">
                <a:effectLst/>
                <a:latin typeface="Helvetica" panose="020B0604020202020204" pitchFamily="34" charset="0"/>
              </a:rPr>
              <a:t>通过将快照导出到 </a:t>
            </a:r>
            <a:r>
              <a:rPr lang="en-US" altLang="zh-CN" sz="1600" b="0" i="0" dirty="0">
                <a:effectLst/>
                <a:latin typeface="Helvetica" panose="020B0604020202020204" pitchFamily="34" charset="0"/>
              </a:rPr>
              <a:t>S3</a:t>
            </a:r>
            <a:r>
              <a:rPr lang="zh-CN" altLang="en-US" sz="1600" b="0" i="0" dirty="0">
                <a:effectLst/>
                <a:latin typeface="Helvetica" panose="020B0604020202020204" pitchFamily="34" charset="0"/>
              </a:rPr>
              <a:t>，您可以将 </a:t>
            </a:r>
            <a:r>
              <a:rPr lang="en-US" altLang="zh-CN" sz="1600" b="0" i="0" dirty="0">
                <a:effectLst/>
                <a:latin typeface="Helvetica" panose="020B0604020202020204" pitchFamily="34" charset="0"/>
              </a:rPr>
              <a:t>RDS </a:t>
            </a:r>
            <a:r>
              <a:rPr lang="zh-CN" altLang="en-US" sz="1600" b="0" i="0" dirty="0">
                <a:effectLst/>
                <a:latin typeface="Helvetica" panose="020B0604020202020204" pitchFamily="34" charset="0"/>
              </a:rPr>
              <a:t>数据库快照中的数据导出为 </a:t>
            </a:r>
            <a:r>
              <a:rPr lang="en-US" altLang="zh-CN" sz="1600" b="0" i="0" dirty="0">
                <a:effectLst/>
                <a:latin typeface="Helvetica" panose="020B0604020202020204" pitchFamily="34" charset="0"/>
              </a:rPr>
              <a:t>Amazon S3 </a:t>
            </a:r>
            <a:r>
              <a:rPr lang="zh-CN" altLang="en-US" sz="1600" b="0" i="0" dirty="0">
                <a:effectLst/>
                <a:latin typeface="Helvetica" panose="020B0604020202020204" pitchFamily="34" charset="0"/>
              </a:rPr>
              <a:t>存储桶中的 </a:t>
            </a:r>
            <a:r>
              <a:rPr lang="en-US" altLang="zh-CN" sz="1600" b="0" i="0" dirty="0">
                <a:effectLst/>
                <a:latin typeface="Helvetica" panose="020B0604020202020204" pitchFamily="34" charset="0"/>
              </a:rPr>
              <a:t>Apache Parquet </a:t>
            </a:r>
            <a:r>
              <a:rPr lang="zh-CN" altLang="en-US" sz="1600" b="0" i="0" dirty="0">
                <a:effectLst/>
                <a:latin typeface="Helvetica" panose="020B0604020202020204" pitchFamily="34" charset="0"/>
              </a:rPr>
              <a:t>格式。此次发布推出了五种新的事件类型，包括当前导出进度以及针对长时间运行的表的表级通知，可更详细地了解您的快照导出性能，并为解决导出操作问题提供建议。此外，您可以查看导出进度，例如已导出和待处理的表的数量以及导出的数据大小，从而使您能够更好地规划操作和工作流程。您可以通过 </a:t>
            </a:r>
            <a:r>
              <a:rPr lang="en-US" altLang="zh-CN" sz="1600" b="0" i="0" dirty="0">
                <a:effectLst/>
                <a:latin typeface="Helvetica" panose="020B0604020202020204" pitchFamily="34" charset="0"/>
              </a:rPr>
              <a:t>Amazon Simple Notification Service</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SNS</a:t>
            </a:r>
            <a:r>
              <a:rPr lang="zh-CN" altLang="en-US" sz="1600" b="0" i="0" dirty="0">
                <a:effectLst/>
                <a:latin typeface="Helvetica" panose="020B0604020202020204" pitchFamily="34" charset="0"/>
              </a:rPr>
              <a:t>）订阅这些事件，通过亚马逊云科技管理控制台、</a:t>
            </a:r>
            <a:r>
              <a:rPr lang="en-US" altLang="zh-CN" sz="1600" b="0" i="0" dirty="0">
                <a:effectLst/>
                <a:latin typeface="Helvetica" panose="020B0604020202020204" pitchFamily="34" charset="0"/>
              </a:rPr>
              <a:t>Amazon CLI </a:t>
            </a:r>
            <a:r>
              <a:rPr lang="zh-CN" altLang="en-US" sz="1600" b="0" i="0" dirty="0">
                <a:effectLst/>
                <a:latin typeface="Helvetica" panose="020B0604020202020204" pitchFamily="34" charset="0"/>
              </a:rPr>
              <a:t>或 </a:t>
            </a:r>
            <a:r>
              <a:rPr lang="en-US" altLang="zh-CN" sz="1600" b="0" i="0" dirty="0">
                <a:effectLst/>
                <a:latin typeface="Helvetica" panose="020B0604020202020204" pitchFamily="34" charset="0"/>
              </a:rPr>
              <a:t>Amazon SDK </a:t>
            </a:r>
            <a:r>
              <a:rPr lang="zh-CN" altLang="en-US" sz="1600" b="0" i="0" dirty="0">
                <a:effectLst/>
                <a:latin typeface="Helvetica" panose="020B0604020202020204" pitchFamily="34" charset="0"/>
              </a:rPr>
              <a:t>接收通知并查看导出事件。</a:t>
            </a:r>
          </a:p>
          <a:p>
            <a:pPr algn="l"/>
            <a:r>
              <a:rPr lang="zh-CN" altLang="en-US" sz="1600" b="0" i="0" dirty="0">
                <a:effectLst/>
                <a:latin typeface="Helvetica" panose="020B0604020202020204" pitchFamily="34" charset="0"/>
              </a:rPr>
              <a:t>此功能适用于所有已正式推出 </a:t>
            </a:r>
            <a:r>
              <a:rPr lang="en-US" altLang="zh-CN" sz="1600" b="0" i="0" dirty="0">
                <a:effectLst/>
                <a:latin typeface="Helvetica" panose="020B0604020202020204" pitchFamily="34" charset="0"/>
              </a:rPr>
              <a:t>RDS </a:t>
            </a:r>
            <a:r>
              <a:rPr lang="zh-CN" altLang="en-US" sz="1600" b="0" i="0" dirty="0">
                <a:effectLst/>
                <a:latin typeface="Helvetica" panose="020B0604020202020204" pitchFamily="34" charset="0"/>
              </a:rPr>
              <a:t>的商业区域的 </a:t>
            </a:r>
            <a:r>
              <a:rPr lang="en-US" altLang="zh-CN" sz="1600" b="0" i="0" dirty="0">
                <a:effectLst/>
                <a:latin typeface="Helvetica" panose="020B0604020202020204" pitchFamily="34" charset="0"/>
              </a:rPr>
              <a:t>RDS PostgreSQL</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RDS MySQL </a:t>
            </a:r>
            <a:r>
              <a:rPr lang="zh-CN" altLang="en-US" sz="1600" b="0" i="0" dirty="0">
                <a:effectLst/>
                <a:latin typeface="Helvetica" panose="020B0604020202020204" pitchFamily="34" charset="0"/>
              </a:rPr>
              <a:t>和 </a:t>
            </a:r>
            <a:r>
              <a:rPr lang="en-US" altLang="zh-CN" sz="1600" b="0" i="0" dirty="0">
                <a:effectLst/>
                <a:latin typeface="Helvetica" panose="020B0604020202020204" pitchFamily="34" charset="0"/>
              </a:rPr>
              <a:t>RDS MariaDB </a:t>
            </a:r>
            <a:r>
              <a:rPr lang="zh-CN" altLang="en-US" sz="1600" b="0" i="0" dirty="0">
                <a:effectLst/>
                <a:latin typeface="Helvetica" panose="020B0604020202020204" pitchFamily="34" charset="0"/>
              </a:rPr>
              <a:t>引擎，包括由光环新网运营的亚马逊云科技中国（北京）区域和由西云数据运营的亚马逊云科技中国（宁夏）区域。 </a:t>
            </a:r>
          </a:p>
          <a:p>
            <a:pPr algn="l"/>
            <a:r>
              <a:rPr lang="zh-CN" altLang="en-US" sz="1600" b="0" i="0" dirty="0">
                <a:effectLst/>
                <a:latin typeface="Helvetica" panose="020B0604020202020204" pitchFamily="34" charset="0"/>
              </a:rPr>
              <a:t>要了解有关新事件类型的更多信息，请参阅 </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RDS </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中的事件类别</a:t>
            </a:r>
            <a:r>
              <a:rPr lang="zh-CN" altLang="en-US" sz="1600" b="0" i="0" dirty="0">
                <a:effectLst/>
                <a:latin typeface="Helvetica" panose="020B0604020202020204" pitchFamily="34" charset="0"/>
              </a:rPr>
              <a:t>。 </a:t>
            </a:r>
            <a:endParaRPr lang="en-US" altLang="zh-CN" sz="1600" b="0" i="0" dirty="0">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a:p>
            <a:pPr algn="l"/>
            <a:r>
              <a:rPr lang="en-US" altLang="zh-CN" sz="1600" b="0" i="0" dirty="0">
                <a:solidFill>
                  <a:srgbClr val="2E3C4E"/>
                </a:solidFill>
                <a:effectLst/>
                <a:latin typeface="Helvetica" panose="020B0604020202020204" pitchFamily="34" charset="0"/>
                <a:hlinkClick r:id="rId3"/>
              </a:rPr>
              <a:t>https://www.amazonaws.cn/new/2025/amazon-rds-enhances-observability-for-snapshot-exports-to-amazon-s3/</a:t>
            </a:r>
            <a:endParaRPr lang="en-US" altLang="zh-CN" sz="1600" b="0" i="0" dirty="0">
              <a:solidFill>
                <a:srgbClr val="2E3C4E"/>
              </a:solidFill>
              <a:effectLst/>
              <a:latin typeface="Helvetica" panose="020B0604020202020204" pitchFamily="34" charset="0"/>
            </a:endParaRPr>
          </a:p>
          <a:p>
            <a:pPr algn="l"/>
            <a:endParaRPr lang="zh-CN" altLang="en-US" sz="1600" b="0" i="0" dirty="0">
              <a:solidFill>
                <a:srgbClr val="2E3C4E"/>
              </a:solidFill>
              <a:effectLst/>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RDS </a:t>
            </a:r>
            <a:r>
              <a:rPr lang="zh-CN" altLang="en-US" b="1" dirty="0"/>
              <a:t>增强了快照导出到 </a:t>
            </a:r>
            <a:r>
              <a:rPr lang="en-US" altLang="zh-CN" b="1" dirty="0"/>
              <a:t>Amazon S3 </a:t>
            </a:r>
            <a:r>
              <a:rPr lang="zh-CN" altLang="en-US" b="1" dirty="0"/>
              <a:t>的可观测性</a:t>
            </a:r>
          </a:p>
        </p:txBody>
      </p:sp>
    </p:spTree>
    <p:extLst>
      <p:ext uri="{BB962C8B-B14F-4D97-AF65-F5344CB8AC3E}">
        <p14:creationId xmlns:p14="http://schemas.microsoft.com/office/powerpoint/2010/main" val="163801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AWS </a:t>
            </a:r>
            <a:r>
              <a:rPr lang="zh-CN" altLang="en-US" b="1" dirty="0"/>
              <a:t>市场和合作伙伴 </a:t>
            </a:r>
          </a:p>
        </p:txBody>
      </p:sp>
      <p:sp>
        <p:nvSpPr>
          <p:cNvPr id="14" name="Rectangle 13">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30825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5</a:t>
            </a:r>
            <a:r>
              <a:rPr lang="zh-CN" altLang="en-US" sz="1600" b="0" i="0" dirty="0">
                <a:effectLst/>
                <a:latin typeface="Helvetica" panose="020B0604020202020204" pitchFamily="34" charset="0"/>
              </a:rPr>
              <a:t>日</a:t>
            </a:r>
          </a:p>
          <a:p>
            <a:pPr algn="l"/>
            <a:r>
              <a:rPr lang="zh-CN" altLang="en-US" sz="1600" b="0" i="0" dirty="0">
                <a:effectLst/>
                <a:latin typeface="Helvetica" panose="020B0604020202020204" pitchFamily="34" charset="0"/>
              </a:rPr>
              <a:t>今天，我们宣布进一步增强 </a:t>
            </a:r>
            <a:r>
              <a:rPr lang="en-US" altLang="zh-CN" sz="1600" b="0" i="0" dirty="0">
                <a:effectLst/>
                <a:latin typeface="Helvetica" panose="020B0604020202020204" pitchFamily="34" charset="0"/>
              </a:rPr>
              <a:t>Amazon </a:t>
            </a:r>
            <a:r>
              <a:rPr lang="en-US" altLang="zh-CN" sz="1600" b="0" i="0" dirty="0" err="1">
                <a:effectLst/>
                <a:latin typeface="Helvetica" panose="020B0604020202020204" pitchFamily="34" charset="0"/>
              </a:rPr>
              <a:t>GuardDuty</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扩展威胁检测功能，增加检测针对 </a:t>
            </a:r>
            <a:r>
              <a:rPr lang="en-US" altLang="zh-CN" sz="1600" b="0" i="0" dirty="0">
                <a:effectLst/>
                <a:latin typeface="Helvetica" panose="020B0604020202020204" pitchFamily="34" charset="0"/>
              </a:rPr>
              <a:t>Amazon Elastic Compute Cloud</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Amazon EC2</a:t>
            </a:r>
            <a:r>
              <a:rPr lang="zh-CN" altLang="en-US" sz="1600" b="0" i="0" dirty="0">
                <a:effectLst/>
                <a:latin typeface="Helvetica" panose="020B0604020202020204" pitchFamily="34" charset="0"/>
              </a:rPr>
              <a:t>）的多阶段攻击的功能。 </a:t>
            </a:r>
            <a:r>
              <a:rPr lang="en-US" altLang="zh-CN" sz="1600" b="0" i="0" dirty="0" err="1">
                <a:effectLst/>
                <a:latin typeface="Helvetica" panose="020B0604020202020204" pitchFamily="34" charset="0"/>
              </a:rPr>
              <a:t>GuardDuty</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扩展威胁检测采用在亚马逊云科技规模训练的人工智能和机器学习算法，以自动关联安全信号并识别关键威胁。它会分析较长时间段内的网络活动、进程运行时行为、恶意软件执行、亚马逊云科技 </a:t>
            </a:r>
            <a:r>
              <a:rPr lang="en-US" altLang="zh-CN" sz="1600" b="0" i="0" dirty="0">
                <a:effectLst/>
                <a:latin typeface="Helvetica" panose="020B0604020202020204" pitchFamily="34" charset="0"/>
              </a:rPr>
              <a:t>API </a:t>
            </a:r>
            <a:r>
              <a:rPr lang="zh-CN" altLang="en-US" sz="1600" b="0" i="0" dirty="0">
                <a:effectLst/>
                <a:latin typeface="Helvetica" panose="020B0604020202020204" pitchFamily="34" charset="0"/>
              </a:rPr>
              <a:t>操作等多种安全信号，以检测原本可能被忽略的复杂攻击模式。 </a:t>
            </a:r>
          </a:p>
          <a:p>
            <a:pPr algn="l"/>
            <a:r>
              <a:rPr lang="zh-CN" altLang="en-US" sz="1600" b="0" i="0" dirty="0">
                <a:effectLst/>
                <a:latin typeface="Helvetica" panose="020B0604020202020204" pitchFamily="34" charset="0"/>
              </a:rPr>
              <a:t>在此次发布中，</a:t>
            </a:r>
            <a:r>
              <a:rPr lang="en-US" altLang="zh-CN" sz="1600" b="0" i="0" dirty="0" err="1">
                <a:effectLst/>
                <a:latin typeface="Helvetica" panose="020B0604020202020204" pitchFamily="34" charset="0"/>
              </a:rPr>
              <a:t>GuardDuty</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引入了新的严重程度调查发现：</a:t>
            </a:r>
            <a:r>
              <a:rPr lang="en-US" altLang="zh-CN" sz="1600" b="0" i="0" dirty="0">
                <a:effectLst/>
                <a:latin typeface="Helvetica" panose="020B0604020202020204" pitchFamily="34" charset="0"/>
              </a:rPr>
              <a:t>AttackSequence:EC2/</a:t>
            </a:r>
            <a:r>
              <a:rPr lang="en-US" altLang="zh-CN" sz="1600" b="0" i="0" dirty="0" err="1">
                <a:effectLst/>
                <a:latin typeface="Helvetica" panose="020B0604020202020204" pitchFamily="34" charset="0"/>
              </a:rPr>
              <a:t>CompromisedInstanceGroup</a:t>
            </a:r>
            <a:r>
              <a:rPr lang="zh-CN" altLang="en-US" sz="1600" b="0" i="0" dirty="0">
                <a:effectLst/>
                <a:latin typeface="Helvetica" panose="020B0604020202020204" pitchFamily="34" charset="0"/>
              </a:rPr>
              <a:t>，该调查发现会提供攻击序列信息，让您可以减少在初始分析上花费的时间，将更多时间用于应对严重威胁，从而最大程度地降低业务影响。例如，</a:t>
            </a:r>
            <a:r>
              <a:rPr lang="en-US" altLang="zh-CN" sz="1600" b="0" i="0" dirty="0" err="1">
                <a:effectLst/>
                <a:latin typeface="Helvetica" panose="020B0604020202020204" pitchFamily="34" charset="0"/>
              </a:rPr>
              <a:t>GuardDuty</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可以识别出“可疑进程启动，后跟持久性尝试、加密货币挖矿活动以及反向 </a:t>
            </a:r>
            <a:r>
              <a:rPr lang="en-US" altLang="zh-CN" sz="1600" b="0" i="0" dirty="0">
                <a:effectLst/>
                <a:latin typeface="Helvetica" panose="020B0604020202020204" pitchFamily="34" charset="0"/>
              </a:rPr>
              <a:t>Shell </a:t>
            </a:r>
            <a:r>
              <a:rPr lang="zh-CN" altLang="en-US" sz="1600" b="0" i="0" dirty="0">
                <a:effectLst/>
                <a:latin typeface="Helvetica" panose="020B0604020202020204" pitchFamily="34" charset="0"/>
              </a:rPr>
              <a:t>创建”的攻击序列，并将这些相关事件整合为单个“严重”级别的安全调查发现。每条调查发现都包含详细摘要、事件时间表、与 </a:t>
            </a:r>
            <a:r>
              <a:rPr lang="en-US" altLang="zh-CN" sz="1600" b="0" i="0" dirty="0">
                <a:effectLst/>
                <a:latin typeface="Helvetica" panose="020B0604020202020204" pitchFamily="34" charset="0"/>
              </a:rPr>
              <a:t>MITRE ATT&amp;CK® </a:t>
            </a:r>
            <a:r>
              <a:rPr lang="zh-CN" altLang="en-US" sz="1600" b="0" i="0" dirty="0">
                <a:effectLst/>
                <a:latin typeface="Helvetica" panose="020B0604020202020204" pitchFamily="34" charset="0"/>
              </a:rPr>
              <a:t>战术和技术的对应关系以及补救建议。</a:t>
            </a:r>
          </a:p>
          <a:p>
            <a:pPr algn="l"/>
            <a:r>
              <a:rPr lang="zh-CN" altLang="en-US" sz="1600" b="0" i="0" dirty="0">
                <a:effectLst/>
                <a:latin typeface="Helvetica" panose="020B0604020202020204" pitchFamily="34" charset="0"/>
              </a:rPr>
              <a:t>适用于 </a:t>
            </a:r>
            <a:r>
              <a:rPr lang="en-US" altLang="zh-CN" sz="1600" b="0" i="0" dirty="0">
                <a:effectLst/>
                <a:latin typeface="Helvetica" panose="020B0604020202020204" pitchFamily="34" charset="0"/>
              </a:rPr>
              <a:t>Amazon EC2 </a:t>
            </a:r>
            <a:r>
              <a:rPr lang="zh-CN" altLang="en-US" sz="1600" b="0" i="0" dirty="0">
                <a:effectLst/>
                <a:latin typeface="Helvetica" panose="020B0604020202020204" pitchFamily="34" charset="0"/>
              </a:rPr>
              <a:t>的 </a:t>
            </a:r>
            <a:r>
              <a:rPr lang="en-US" altLang="zh-CN" sz="1600" b="0" i="0" dirty="0" err="1">
                <a:effectLst/>
                <a:latin typeface="Helvetica" panose="020B0604020202020204" pitchFamily="34" charset="0"/>
              </a:rPr>
              <a:t>GuardDuty</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扩展威胁检测功能现已在由西云数据运营的亚马逊云科技中国（宁夏）区域以及由光环新网运营的亚马逊云科技中国（北京）区域推出，无需另行付费。 </a:t>
            </a:r>
          </a:p>
          <a:p>
            <a:pPr algn="l"/>
            <a:r>
              <a:rPr lang="zh-CN" altLang="en-US" sz="1600" b="0" i="0" dirty="0">
                <a:effectLst/>
                <a:latin typeface="Helvetica" panose="020B0604020202020204" pitchFamily="34" charset="0"/>
              </a:rPr>
              <a:t>要开始使用，请通过控制台或 </a:t>
            </a:r>
            <a:r>
              <a:rPr lang="en-US" altLang="zh-CN" sz="1600" b="0" i="0" dirty="0">
                <a:effectLst/>
                <a:latin typeface="Helvetica" panose="020B0604020202020204" pitchFamily="34" charset="0"/>
              </a:rPr>
              <a:t>API </a:t>
            </a:r>
            <a:r>
              <a:rPr lang="zh-CN" altLang="en-US" sz="1600" b="0" i="0" dirty="0">
                <a:effectLst/>
                <a:latin typeface="Helvetica" panose="020B0604020202020204" pitchFamily="34" charset="0"/>
              </a:rPr>
              <a:t>启用 </a:t>
            </a:r>
            <a:r>
              <a:rPr lang="en-US" altLang="zh-CN" sz="1600" b="0" i="0" dirty="0" err="1">
                <a:effectLst/>
                <a:latin typeface="Helvetica" panose="020B0604020202020204" pitchFamily="34" charset="0"/>
              </a:rPr>
              <a:t>GuardDuty</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保护计划。 </a:t>
            </a:r>
            <a:r>
              <a:rPr lang="en-US" altLang="zh-CN" sz="1600" b="0" i="0" dirty="0" err="1">
                <a:effectLst/>
                <a:latin typeface="Helvetica" panose="020B0604020202020204" pitchFamily="34" charset="0"/>
              </a:rPr>
              <a:t>GuardDuty</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新客户可享受 </a:t>
            </a:r>
            <a:r>
              <a:rPr lang="en-US" altLang="zh-CN" sz="1600" b="0" i="0" dirty="0">
                <a:effectLst/>
                <a:latin typeface="Helvetica" panose="020B0604020202020204" pitchFamily="34" charset="0"/>
              </a:rPr>
              <a:t>30 </a:t>
            </a:r>
            <a:r>
              <a:rPr lang="zh-CN" altLang="en-US" sz="1600" b="0" i="0" dirty="0">
                <a:effectLst/>
                <a:latin typeface="Helvetica" panose="020B0604020202020204" pitchFamily="34" charset="0"/>
              </a:rPr>
              <a:t>天免费试用。 如需更多信息，请访问 </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Amazon </a:t>
            </a:r>
            <a:r>
              <a:rPr lang="en-US" altLang="zh-CN" sz="1600" b="0" i="0" u="sng" dirty="0" err="1">
                <a:effectLst/>
                <a:latin typeface="Helvetica" panose="020B0604020202020204" pitchFamily="34" charset="0"/>
                <a:hlinkClick r:id="rId2">
                  <a:extLst>
                    <a:ext uri="{A12FA001-AC4F-418D-AE19-62706E023703}">
                      <ahyp:hlinkClr xmlns:ahyp="http://schemas.microsoft.com/office/drawing/2018/hyperlinkcolor" val="tx"/>
                    </a:ext>
                  </a:extLst>
                </a:hlinkClick>
              </a:rPr>
              <a:t>GuardDuty</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 </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产品页面</a:t>
            </a:r>
            <a:r>
              <a:rPr lang="zh-CN" altLang="en-US" sz="1600" b="0" i="0" dirty="0">
                <a:effectLst/>
                <a:latin typeface="Helvetica" panose="020B0604020202020204" pitchFamily="34" charset="0"/>
              </a:rPr>
              <a:t>。</a:t>
            </a:r>
            <a:endParaRPr lang="en-US" altLang="zh-CN" sz="1600" b="0" i="0" dirty="0">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a:p>
            <a:pPr algn="l"/>
            <a:r>
              <a:rPr lang="en-US" altLang="zh-CN" sz="1600" b="0" i="0" dirty="0">
                <a:solidFill>
                  <a:srgbClr val="2E3C4E"/>
                </a:solidFill>
                <a:effectLst/>
                <a:latin typeface="Helvetica" panose="020B0604020202020204" pitchFamily="34" charset="0"/>
                <a:hlinkClick r:id="rId3"/>
              </a:rPr>
              <a:t>https://www.amazonaws.cn/new/2025/amazon-guardduty-extended-threat-detection-supports-amazon-ec2-and-amazon-ecs/</a:t>
            </a:r>
            <a:endParaRPr lang="en-US" altLang="zh-CN" sz="1600" b="0" i="0" dirty="0">
              <a:solidFill>
                <a:srgbClr val="2E3C4E"/>
              </a:solidFill>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a:t>
            </a:r>
            <a:r>
              <a:rPr lang="en-US" altLang="zh-CN" b="1" dirty="0" err="1"/>
              <a:t>GuardDuty</a:t>
            </a:r>
            <a:r>
              <a:rPr lang="en-US" altLang="zh-CN" b="1" dirty="0"/>
              <a:t> </a:t>
            </a:r>
            <a:r>
              <a:rPr lang="zh-CN" altLang="en-US" b="1" dirty="0"/>
              <a:t>扩展威胁检测功能现在支持 </a:t>
            </a:r>
            <a:r>
              <a:rPr lang="en-US" altLang="zh-CN" b="1" dirty="0"/>
              <a:t>Amazon EC2 </a:t>
            </a:r>
            <a:r>
              <a:rPr lang="zh-CN" altLang="en-US" b="1" dirty="0"/>
              <a:t>和 </a:t>
            </a:r>
            <a:r>
              <a:rPr lang="en-US" altLang="zh-CN" b="1" dirty="0"/>
              <a:t>Amazon ECS</a:t>
            </a:r>
          </a:p>
        </p:txBody>
      </p:sp>
    </p:spTree>
    <p:extLst>
      <p:ext uri="{BB962C8B-B14F-4D97-AF65-F5344CB8AC3E}">
        <p14:creationId xmlns:p14="http://schemas.microsoft.com/office/powerpoint/2010/main" val="3598398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App Integration </a:t>
            </a:r>
            <a:r>
              <a:rPr lang="zh-CN" altLang="en-US" b="1" dirty="0">
                <a:latin typeface="Microsoft YaHei" panose="020B0503020204020204" pitchFamily="34" charset="-122"/>
                <a:ea typeface="Microsoft YaHei" panose="020B0503020204020204" pitchFamily="34" charset="-122"/>
              </a:rPr>
              <a:t>应用集成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rgbClr val="FFFF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Tree>
    <p:extLst>
      <p:ext uri="{BB962C8B-B14F-4D97-AF65-F5344CB8AC3E}">
        <p14:creationId xmlns:p14="http://schemas.microsoft.com/office/powerpoint/2010/main" val="3294092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11</a:t>
            </a:r>
            <a:r>
              <a:rPr lang="zh-CN" altLang="en-US" sz="1600" b="0" i="0" dirty="0">
                <a:effectLst/>
                <a:latin typeface="Helvetica" panose="020B0604020202020204" pitchFamily="34" charset="0"/>
              </a:rPr>
              <a:t>日</a:t>
            </a:r>
          </a:p>
          <a:p>
            <a:pPr algn="l"/>
            <a:r>
              <a:rPr lang="en-US" altLang="zh-CN" sz="1600" b="0" i="0" dirty="0">
                <a:effectLst/>
                <a:latin typeface="Helvetica" panose="020B0604020202020204" pitchFamily="34" charset="0"/>
              </a:rPr>
              <a:t>Amazon Organizations </a:t>
            </a:r>
            <a:r>
              <a:rPr lang="zh-CN" altLang="en-US" sz="1600" b="0" i="0" dirty="0">
                <a:effectLst/>
                <a:latin typeface="Helvetica" panose="020B0604020202020204" pitchFamily="34" charset="0"/>
              </a:rPr>
              <a:t>现已支持客户将账户直接转移至其他组织，而无需先将其从当前组织中移除。这项新功能可简化组织间的账户转移流程，无论是在日常运营中，还是企业并购整合项目中。 </a:t>
            </a:r>
          </a:p>
          <a:p>
            <a:pPr algn="l"/>
            <a:r>
              <a:rPr lang="zh-CN" altLang="en-US" sz="1600" b="0" i="0" dirty="0">
                <a:effectLst/>
                <a:latin typeface="Helvetica" panose="020B0604020202020204" pitchFamily="34" charset="0"/>
              </a:rPr>
              <a:t>此前，在组织间转移账户需要该账户先作为独立账户运行，而组织间账户直接转移功能则省去了这一环节。移除独立账户过渡步骤后，客户无需再在转移过程中手动配置账户的支付方式、联系信息和支持计划。 账户直接转移功能还能确保账户在转移流程前后均可持续享有所在组织的治理功能和整合账单权益。更新后的流程更加简单，并且沿用了原有的 </a:t>
            </a:r>
            <a:r>
              <a:rPr lang="en-US" altLang="zh-CN" sz="1600" b="0" i="0" dirty="0">
                <a:effectLst/>
                <a:latin typeface="Helvetica" panose="020B0604020202020204" pitchFamily="34" charset="0"/>
              </a:rPr>
              <a:t>Amazon Organizations </a:t>
            </a:r>
            <a:r>
              <a:rPr lang="zh-CN" altLang="en-US" sz="1600" b="0" i="0" dirty="0">
                <a:effectLst/>
                <a:latin typeface="Helvetica" panose="020B0604020202020204" pitchFamily="34" charset="0"/>
              </a:rPr>
              <a:t>控制台体验和 </a:t>
            </a:r>
            <a:r>
              <a:rPr lang="en-US" altLang="zh-CN" sz="1600" b="0" i="0" dirty="0">
                <a:effectLst/>
                <a:latin typeface="Helvetica" panose="020B0604020202020204" pitchFamily="34" charset="0"/>
              </a:rPr>
              <a:t>API</a:t>
            </a:r>
            <a:r>
              <a:rPr lang="zh-CN" altLang="en-US" sz="1600" b="0" i="0" dirty="0">
                <a:effectLst/>
                <a:latin typeface="Helvetica" panose="020B0604020202020204" pitchFamily="34" charset="0"/>
              </a:rPr>
              <a:t>：组织向账户发送邀请，账户接受邀请。</a:t>
            </a:r>
          </a:p>
          <a:p>
            <a:pPr algn="l"/>
            <a:r>
              <a:rPr lang="zh-CN" altLang="en-US" sz="1600" b="0" i="0" dirty="0">
                <a:effectLst/>
                <a:latin typeface="Helvetica" panose="020B0604020202020204" pitchFamily="34" charset="0"/>
              </a:rPr>
              <a:t>组织间账户直接转移功能仅支持同一区域组内的组织，目前已在由光环新网运营的亚马逊云科技中国（北京）区域和由西云数据运营的亚马逊云科技中国（宁夏）区域推出。</a:t>
            </a:r>
          </a:p>
          <a:p>
            <a:pPr algn="l"/>
            <a:r>
              <a:rPr lang="zh-CN" altLang="en-US" sz="1600" b="0" i="0" dirty="0">
                <a:effectLst/>
                <a:latin typeface="Helvetica" panose="020B0604020202020204" pitchFamily="34" charset="0"/>
              </a:rPr>
              <a:t>要了解有关组织间账户直接转移的更多信息，请参阅</a:t>
            </a:r>
            <a:r>
              <a:rPr lang="en-US" altLang="zh-CN" sz="1600" b="0" i="0" dirty="0">
                <a:effectLst/>
                <a:latin typeface="Helvetica" panose="020B0604020202020204" pitchFamily="34" charset="0"/>
              </a:rPr>
              <a:t>《</a:t>
            </a:r>
            <a:r>
              <a:rPr lang="zh-CN" altLang="en-US" sz="1600" b="0" i="0" dirty="0">
                <a:effectLst/>
                <a:latin typeface="Helvetica" panose="020B0604020202020204" pitchFamily="34" charset="0"/>
              </a:rPr>
              <a:t>亚马逊云科技用户指南</a:t>
            </a:r>
            <a:r>
              <a:rPr lang="en-US" altLang="zh-CN" sz="1600" b="0" i="0" dirty="0">
                <a:effectLst/>
                <a:latin typeface="Helvetica" panose="020B0604020202020204" pitchFamily="34" charset="0"/>
              </a:rPr>
              <a:t>》</a:t>
            </a:r>
            <a:r>
              <a:rPr lang="zh-CN" altLang="en-US" sz="1600" b="0" i="0" dirty="0">
                <a:effectLst/>
                <a:latin typeface="Helvetica" panose="020B0604020202020204" pitchFamily="34" charset="0"/>
              </a:rPr>
              <a:t>中的</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通过 </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Amazon Organizations </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管理账户邀请</a:t>
            </a:r>
            <a:r>
              <a:rPr lang="zh-CN" altLang="en-US" sz="1600" b="0" i="0" dirty="0">
                <a:effectLst/>
                <a:latin typeface="Helvetica" panose="020B0604020202020204" pitchFamily="34" charset="0"/>
              </a:rPr>
              <a:t>，或查看 </a:t>
            </a:r>
            <a:r>
              <a:rPr lang="en-US" altLang="zh-CN"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Amazon Organizations API </a:t>
            </a:r>
            <a:r>
              <a:rPr lang="zh-CN" altLang="en-US"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参考</a:t>
            </a:r>
            <a:r>
              <a:rPr lang="zh-CN" altLang="en-US" sz="1600" b="0" i="0" dirty="0">
                <a:effectLst/>
                <a:latin typeface="Helvetica" panose="020B0604020202020204" pitchFamily="34" charset="0"/>
              </a:rPr>
              <a:t>。</a:t>
            </a:r>
            <a:endParaRPr lang="en-US" altLang="zh-CN" sz="1600" b="0" i="0" dirty="0">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a:p>
            <a:pPr algn="l"/>
            <a:r>
              <a:rPr lang="en-US" altLang="zh-CN" sz="1600" b="0" i="0" dirty="0">
                <a:solidFill>
                  <a:srgbClr val="2E3C4E"/>
                </a:solidFill>
                <a:effectLst/>
                <a:latin typeface="Helvetica" panose="020B0604020202020204" pitchFamily="34" charset="0"/>
                <a:hlinkClick r:id="rId4"/>
              </a:rPr>
              <a:t>https://www.amazonaws.cn/new/2025/amazon-organizations-introduces-direct-account-transfers-between-organizations/</a:t>
            </a:r>
            <a:endParaRPr lang="en-US" altLang="zh-CN" sz="1600" b="0" i="0" dirty="0">
              <a:solidFill>
                <a:srgbClr val="2E3C4E"/>
              </a:solidFill>
              <a:effectLst/>
              <a:latin typeface="Helvetica" panose="020B0604020202020204" pitchFamily="34" charset="0"/>
            </a:endParaRPr>
          </a:p>
          <a:p>
            <a:pPr algn="l"/>
            <a:endParaRPr lang="zh-CN" altLang="en-US" sz="1600" b="0" i="0" dirty="0">
              <a:solidFill>
                <a:srgbClr val="2E3C4E"/>
              </a:solidFill>
              <a:effectLst/>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Organizations </a:t>
            </a:r>
            <a:r>
              <a:rPr lang="zh-CN" altLang="en-US" b="1" dirty="0"/>
              <a:t>推出组织间账户直接转移功能</a:t>
            </a:r>
          </a:p>
        </p:txBody>
      </p:sp>
    </p:spTree>
    <p:extLst>
      <p:ext uri="{BB962C8B-B14F-4D97-AF65-F5344CB8AC3E}">
        <p14:creationId xmlns:p14="http://schemas.microsoft.com/office/powerpoint/2010/main" val="3611307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rgbClr val="FF4C41">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
        <p:nvSpPr>
          <p:cNvPr id="14" name="Rectangle 13">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80653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App Integration </a:t>
            </a:r>
            <a:r>
              <a:rPr lang="zh-CN" altLang="en-US" b="1" dirty="0">
                <a:latin typeface="Microsoft YaHei" panose="020B0503020204020204" pitchFamily="34" charset="-122"/>
                <a:ea typeface="Microsoft YaHei" panose="020B0503020204020204" pitchFamily="34" charset="-122"/>
              </a:rPr>
              <a:t>应用集成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accent1">
              <a:lumMod val="40000"/>
              <a:lumOff val="6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AWS </a:t>
            </a:r>
            <a:r>
              <a:rPr lang="zh-CN" altLang="en-US" b="1" dirty="0"/>
              <a:t>市场和合作伙伴 </a:t>
            </a:r>
          </a:p>
        </p:txBody>
      </p:sp>
    </p:spTree>
    <p:extLst>
      <p:ext uri="{BB962C8B-B14F-4D97-AF65-F5344CB8AC3E}">
        <p14:creationId xmlns:p14="http://schemas.microsoft.com/office/powerpoint/2010/main" val="2630731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16</a:t>
            </a:r>
            <a:r>
              <a:rPr lang="zh-CN" altLang="en-US" sz="1600" b="0" i="0" dirty="0">
                <a:effectLst/>
                <a:latin typeface="Helvetica" panose="020B0604020202020204" pitchFamily="34" charset="0"/>
              </a:rPr>
              <a:t>日</a:t>
            </a:r>
          </a:p>
          <a:p>
            <a:pPr algn="l"/>
            <a:r>
              <a:rPr lang="zh-CN" altLang="en-US" sz="1600" b="0" i="0" dirty="0">
                <a:effectLst/>
                <a:latin typeface="Helvetica" panose="020B0604020202020204" pitchFamily="34" charset="0"/>
              </a:rPr>
              <a:t>即日起，您可以为 </a:t>
            </a:r>
            <a:r>
              <a:rPr lang="en-US" altLang="zh-CN" sz="1600" b="0" i="0" dirty="0">
                <a:effectLst/>
                <a:latin typeface="Helvetica" panose="020B0604020202020204" pitchFamily="34" charset="0"/>
              </a:rPr>
              <a:t>Route 53 </a:t>
            </a:r>
            <a:r>
              <a:rPr lang="zh-CN" altLang="en-US" sz="1600" b="0" i="0" dirty="0">
                <a:effectLst/>
                <a:latin typeface="Helvetica" panose="020B0604020202020204" pitchFamily="34" charset="0"/>
              </a:rPr>
              <a:t>启用 </a:t>
            </a:r>
            <a:r>
              <a:rPr lang="en-US" altLang="zh-CN" sz="1600" b="0" i="0" dirty="0">
                <a:effectLst/>
                <a:latin typeface="Helvetica" panose="020B0604020202020204" pitchFamily="34" charset="0"/>
              </a:rPr>
              <a:t>Amazon CloudWatch </a:t>
            </a:r>
            <a:r>
              <a:rPr lang="zh-CN" altLang="en-US" sz="1600" b="0" i="0" dirty="0">
                <a:effectLst/>
                <a:latin typeface="Helvetica" panose="020B0604020202020204" pitchFamily="34" charset="0"/>
              </a:rPr>
              <a:t>指标，以监控 </a:t>
            </a:r>
            <a:r>
              <a:rPr lang="en-US" altLang="zh-CN" sz="1600" b="0" i="0" dirty="0">
                <a:effectLst/>
                <a:latin typeface="Helvetica" panose="020B0604020202020204" pitchFamily="34" charset="0"/>
              </a:rPr>
              <a:t>Route 53 Resolver </a:t>
            </a:r>
            <a:r>
              <a:rPr lang="zh-CN" altLang="en-US" sz="1600" b="0" i="0" dirty="0">
                <a:effectLst/>
                <a:latin typeface="Helvetica" panose="020B0604020202020204" pitchFamily="34" charset="0"/>
              </a:rPr>
              <a:t>端点以及与出站 </a:t>
            </a:r>
            <a:r>
              <a:rPr lang="en-US" altLang="zh-CN" sz="1600" b="0" i="0" dirty="0">
                <a:effectLst/>
                <a:latin typeface="Helvetica" panose="020B0604020202020204" pitchFamily="34" charset="0"/>
              </a:rPr>
              <a:t>Resolver </a:t>
            </a:r>
            <a:r>
              <a:rPr lang="zh-CN" altLang="en-US" sz="1600" b="0" i="0" dirty="0">
                <a:effectLst/>
                <a:latin typeface="Helvetica" panose="020B0604020202020204" pitchFamily="34" charset="0"/>
              </a:rPr>
              <a:t>端点关联的所有目标名称服务器的性能和运行状况。 </a:t>
            </a:r>
          </a:p>
          <a:p>
            <a:pPr algn="l"/>
            <a:r>
              <a:rPr lang="en-US" altLang="zh-CN" sz="1600" b="0" i="0" dirty="0">
                <a:effectLst/>
                <a:latin typeface="Helvetica" panose="020B0604020202020204" pitchFamily="34" charset="0"/>
              </a:rPr>
              <a:t>Amazon Route 53 Resolver </a:t>
            </a:r>
            <a:r>
              <a:rPr lang="zh-CN" altLang="en-US" sz="1600" b="0" i="0" dirty="0">
                <a:effectLst/>
                <a:latin typeface="Helvetica" panose="020B0604020202020204" pitchFamily="34" charset="0"/>
              </a:rPr>
              <a:t>端点能够实现本地数据中心与 </a:t>
            </a:r>
            <a:r>
              <a:rPr lang="en-US" altLang="zh-CN" sz="1600" b="0" i="0" dirty="0">
                <a:effectLst/>
                <a:latin typeface="Helvetica" panose="020B0604020202020204" pitchFamily="34" charset="0"/>
              </a:rPr>
              <a:t>Amazon Virtual Private Cloud</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Amazon VPC</a:t>
            </a:r>
            <a:r>
              <a:rPr lang="zh-CN" altLang="en-US" sz="1600" b="0" i="0" dirty="0">
                <a:effectLst/>
                <a:latin typeface="Helvetica" panose="020B0604020202020204" pitchFamily="34" charset="0"/>
              </a:rPr>
              <a:t>）之间的无缝 </a:t>
            </a:r>
            <a:r>
              <a:rPr lang="en-US" altLang="zh-CN" sz="1600" b="0" i="0" dirty="0">
                <a:effectLst/>
                <a:latin typeface="Helvetica" panose="020B0604020202020204" pitchFamily="34" charset="0"/>
              </a:rPr>
              <a:t>DNS </a:t>
            </a:r>
            <a:r>
              <a:rPr lang="zh-CN" altLang="en-US" sz="1600" b="0" i="0" dirty="0">
                <a:effectLst/>
                <a:latin typeface="Helvetica" panose="020B0604020202020204" pitchFamily="34" charset="0"/>
              </a:rPr>
              <a:t>查询解析，让混合云配置更易于管理。 可以在 </a:t>
            </a:r>
            <a:r>
              <a:rPr lang="en-US" altLang="zh-CN" sz="1600" b="0" i="0" dirty="0">
                <a:effectLst/>
                <a:latin typeface="Helvetica" panose="020B0604020202020204" pitchFamily="34" charset="0"/>
              </a:rPr>
              <a:t>CloudWatch </a:t>
            </a:r>
            <a:r>
              <a:rPr lang="zh-CN" altLang="en-US" sz="1600" b="0" i="0" dirty="0">
                <a:effectLst/>
                <a:latin typeface="Helvetica" panose="020B0604020202020204" pitchFamily="34" charset="0"/>
              </a:rPr>
              <a:t>上为每个 </a:t>
            </a:r>
            <a:r>
              <a:rPr lang="en-US" altLang="zh-CN" sz="1600" b="0" i="0" dirty="0">
                <a:effectLst/>
                <a:latin typeface="Helvetica" panose="020B0604020202020204" pitchFamily="34" charset="0"/>
              </a:rPr>
              <a:t>Resolver </a:t>
            </a:r>
            <a:r>
              <a:rPr lang="zh-CN" altLang="en-US" sz="1600" b="0" i="0" dirty="0">
                <a:effectLst/>
                <a:latin typeface="Helvetica" panose="020B0604020202020204" pitchFamily="34" charset="0"/>
              </a:rPr>
              <a:t>端点启用这些新指标，进而评估 </a:t>
            </a:r>
            <a:r>
              <a:rPr lang="en-US" altLang="zh-CN" sz="1600" b="0" i="0" dirty="0">
                <a:effectLst/>
                <a:latin typeface="Helvetica" panose="020B0604020202020204" pitchFamily="34" charset="0"/>
              </a:rPr>
              <a:t>Resolver </a:t>
            </a:r>
            <a:r>
              <a:rPr lang="zh-CN" altLang="en-US" sz="1600" b="0" i="0" dirty="0">
                <a:effectLst/>
                <a:latin typeface="Helvetica" panose="020B0604020202020204" pitchFamily="34" charset="0"/>
              </a:rPr>
              <a:t>端点接收 </a:t>
            </a:r>
            <a:r>
              <a:rPr lang="en-US" altLang="zh-CN" sz="1600" b="0" i="0" dirty="0">
                <a:effectLst/>
                <a:latin typeface="Helvetica" panose="020B0604020202020204" pitchFamily="34" charset="0"/>
              </a:rPr>
              <a:t>DNS </a:t>
            </a:r>
            <a:r>
              <a:rPr lang="zh-CN" altLang="en-US" sz="1600" b="0" i="0" dirty="0">
                <a:effectLst/>
                <a:latin typeface="Helvetica" panose="020B0604020202020204" pitchFamily="34" charset="0"/>
              </a:rPr>
              <a:t>查询的响应延迟，以及导致 </a:t>
            </a:r>
            <a:r>
              <a:rPr lang="en-US" altLang="zh-CN" sz="1600" b="0" i="0" dirty="0">
                <a:effectLst/>
                <a:latin typeface="Helvetica" panose="020B0604020202020204" pitchFamily="34" charset="0"/>
              </a:rPr>
              <a:t>SERVFAIL</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NXDOMAIN</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REFUSED </a:t>
            </a:r>
            <a:r>
              <a:rPr lang="zh-CN" altLang="en-US" sz="1600" b="0" i="0" dirty="0">
                <a:effectLst/>
                <a:latin typeface="Helvetica" panose="020B0604020202020204" pitchFamily="34" charset="0"/>
              </a:rPr>
              <a:t>或 </a:t>
            </a:r>
            <a:r>
              <a:rPr lang="en-US" altLang="zh-CN" sz="1600" b="0" i="0" dirty="0">
                <a:effectLst/>
                <a:latin typeface="Helvetica" panose="020B0604020202020204" pitchFamily="34" charset="0"/>
              </a:rPr>
              <a:t>FORMERR </a:t>
            </a:r>
            <a:r>
              <a:rPr lang="zh-CN" altLang="en-US" sz="1600" b="0" i="0" dirty="0">
                <a:effectLst/>
                <a:latin typeface="Helvetica" panose="020B0604020202020204" pitchFamily="34" charset="0"/>
              </a:rPr>
              <a:t>状态的查询响应数量。您还可以通过查看目标服务器的响应延迟以及导致超时的查询次数来查看与出站 </a:t>
            </a:r>
            <a:r>
              <a:rPr lang="en-US" altLang="zh-CN" sz="1600" b="0" i="0" dirty="0">
                <a:effectLst/>
                <a:latin typeface="Helvetica" panose="020B0604020202020204" pitchFamily="34" charset="0"/>
              </a:rPr>
              <a:t>Resolver </a:t>
            </a:r>
            <a:r>
              <a:rPr lang="zh-CN" altLang="en-US" sz="1600" b="0" i="0" dirty="0">
                <a:effectLst/>
                <a:latin typeface="Helvetica" panose="020B0604020202020204" pitchFamily="34" charset="0"/>
              </a:rPr>
              <a:t>端点关联的目标名称服务器的可用性。 这些新指标可帮助您快速评估 </a:t>
            </a:r>
            <a:r>
              <a:rPr lang="en-US" altLang="zh-CN" sz="1600" b="0" i="0" dirty="0">
                <a:effectLst/>
                <a:latin typeface="Helvetica" panose="020B0604020202020204" pitchFamily="34" charset="0"/>
              </a:rPr>
              <a:t>Route 53 Resolver </a:t>
            </a:r>
            <a:r>
              <a:rPr lang="zh-CN" altLang="en-US" sz="1600" b="0" i="0" dirty="0">
                <a:effectLst/>
                <a:latin typeface="Helvetica" panose="020B0604020202020204" pitchFamily="34" charset="0"/>
              </a:rPr>
              <a:t>端点及其关联目标名称服务器的运行状况。 </a:t>
            </a:r>
          </a:p>
          <a:p>
            <a:pPr algn="l"/>
            <a:r>
              <a:rPr lang="zh-CN" altLang="en-US" sz="1600" b="0" i="0" dirty="0">
                <a:effectLst/>
                <a:latin typeface="Helvetica" panose="020B0604020202020204" pitchFamily="34" charset="0"/>
              </a:rPr>
              <a:t>要了解有关这些指标的更多信息，请阅读</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文档</a:t>
            </a:r>
            <a:r>
              <a:rPr lang="zh-CN" altLang="en-US" sz="1600" b="0" i="0" dirty="0">
                <a:effectLst/>
                <a:latin typeface="Helvetica" panose="020B0604020202020204" pitchFamily="34" charset="0"/>
              </a:rPr>
              <a:t>。 使用 </a:t>
            </a:r>
            <a:r>
              <a:rPr lang="en-US" altLang="zh-CN" sz="1600" b="0" i="0" dirty="0">
                <a:effectLst/>
                <a:latin typeface="Helvetica" panose="020B0604020202020204" pitchFamily="34" charset="0"/>
              </a:rPr>
              <a:t>Route 53 Resolver </a:t>
            </a:r>
            <a:r>
              <a:rPr lang="zh-CN" altLang="en-US" sz="1600" b="0" i="0" dirty="0">
                <a:effectLst/>
                <a:latin typeface="Helvetica" panose="020B0604020202020204" pitchFamily="34" charset="0"/>
              </a:rPr>
              <a:t>端点详细指标时，将收取标准 </a:t>
            </a:r>
            <a:r>
              <a:rPr lang="en-US" altLang="zh-CN" sz="1600" b="0" i="0" dirty="0">
                <a:effectLst/>
                <a:latin typeface="Helvetica" panose="020B0604020202020204" pitchFamily="34" charset="0"/>
              </a:rPr>
              <a:t>CloudWatch </a:t>
            </a:r>
            <a:r>
              <a:rPr lang="zh-CN" altLang="en-US" sz="1600" b="0" i="0" dirty="0">
                <a:effectLst/>
                <a:latin typeface="Helvetica" panose="020B0604020202020204" pitchFamily="34" charset="0"/>
              </a:rPr>
              <a:t>费用和 </a:t>
            </a:r>
            <a:r>
              <a:rPr lang="en-US" altLang="zh-CN" sz="1600" b="0" i="0" dirty="0">
                <a:effectLst/>
                <a:latin typeface="Helvetica" panose="020B0604020202020204" pitchFamily="34" charset="0"/>
              </a:rPr>
              <a:t>Resolver </a:t>
            </a:r>
            <a:r>
              <a:rPr lang="zh-CN" altLang="en-US" sz="1600" b="0" i="0" dirty="0">
                <a:effectLst/>
                <a:latin typeface="Helvetica" panose="020B0604020202020204" pitchFamily="34" charset="0"/>
              </a:rPr>
              <a:t>端点费用。有关更多信息，请参阅 </a:t>
            </a:r>
            <a:r>
              <a:rPr lang="en-US" altLang="zh-CN" sz="1600" b="0" i="0" u="sng" dirty="0">
                <a:solidFill>
                  <a:srgbClr val="FD9827"/>
                </a:solidFill>
                <a:effectLst/>
                <a:latin typeface="Helvetica" panose="020B0604020202020204" pitchFamily="34" charset="0"/>
                <a:hlinkClick r:id="rId3">
                  <a:extLst>
                    <a:ext uri="{A12FA001-AC4F-418D-AE19-62706E023703}">
                      <ahyp:hlinkClr xmlns:ahyp="http://schemas.microsoft.com/office/drawing/2018/hyperlinkcolor" val="tx"/>
                    </a:ext>
                  </a:extLst>
                </a:hlinkClick>
              </a:rPr>
              <a:t>Amazon CloudWatch </a:t>
            </a:r>
            <a:r>
              <a:rPr lang="zh-CN" altLang="en-US"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定价</a:t>
            </a:r>
            <a:r>
              <a:rPr lang="zh-CN" altLang="en-US" sz="1600" b="0" i="0" dirty="0">
                <a:effectLst/>
                <a:latin typeface="Helvetica" panose="020B0604020202020204" pitchFamily="34" charset="0"/>
              </a:rPr>
              <a:t>和 </a:t>
            </a:r>
            <a:r>
              <a:rPr lang="en-US" altLang="zh-CN" sz="1600" b="0" i="0" u="sng" dirty="0">
                <a:solidFill>
                  <a:srgbClr val="FD9827"/>
                </a:solidFill>
                <a:effectLst/>
                <a:latin typeface="Helvetica" panose="020B0604020202020204" pitchFamily="34" charset="0"/>
                <a:hlinkClick r:id="rId4">
                  <a:extLst>
                    <a:ext uri="{A12FA001-AC4F-418D-AE19-62706E023703}">
                      <ahyp:hlinkClr xmlns:ahyp="http://schemas.microsoft.com/office/drawing/2018/hyperlinkcolor" val="tx"/>
                    </a:ext>
                  </a:extLst>
                </a:hlinkClick>
              </a:rPr>
              <a:t>Resolver </a:t>
            </a:r>
            <a:r>
              <a:rPr lang="zh-CN" altLang="en-US" sz="1600" b="0" i="0" u="sng" dirty="0">
                <a:effectLst/>
                <a:latin typeface="Helvetica" panose="020B0604020202020204" pitchFamily="34" charset="0"/>
                <a:hlinkClick r:id="rId4">
                  <a:extLst>
                    <a:ext uri="{A12FA001-AC4F-418D-AE19-62706E023703}">
                      <ahyp:hlinkClr xmlns:ahyp="http://schemas.microsoft.com/office/drawing/2018/hyperlinkcolor" val="tx"/>
                    </a:ext>
                  </a:extLst>
                </a:hlinkClick>
              </a:rPr>
              <a:t>端点定价</a:t>
            </a:r>
            <a:r>
              <a:rPr lang="zh-CN" altLang="en-US" sz="1600" b="0" i="0" dirty="0">
                <a:effectLst/>
                <a:latin typeface="Helvetica" panose="020B0604020202020204" pitchFamily="34" charset="0"/>
              </a:rPr>
              <a:t>。</a:t>
            </a:r>
            <a:endParaRPr lang="en-US" altLang="zh-CN" sz="1600" b="0" i="0" dirty="0">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a:p>
            <a:pPr algn="l"/>
            <a:r>
              <a:rPr lang="en-US" altLang="zh-CN" sz="1600" b="0" i="0" dirty="0">
                <a:solidFill>
                  <a:srgbClr val="2E3C4E"/>
                </a:solidFill>
                <a:effectLst/>
                <a:latin typeface="Helvetica" panose="020B0604020202020204" pitchFamily="34" charset="0"/>
                <a:hlinkClick r:id="rId5"/>
              </a:rPr>
              <a:t>https://www.amazonaws.cn/new/2025/amazon-route-53-launches-detailed-metrics-for-resolver-endpoints/</a:t>
            </a:r>
            <a:endParaRPr lang="en-US" altLang="zh-CN" sz="1600" b="0" i="0" dirty="0">
              <a:solidFill>
                <a:srgbClr val="2E3C4E"/>
              </a:solidFill>
              <a:effectLst/>
              <a:latin typeface="Helvetica" panose="020B0604020202020204" pitchFamily="34" charset="0"/>
            </a:endParaRPr>
          </a:p>
          <a:p>
            <a:pPr algn="l"/>
            <a:endParaRPr lang="zh-CN" altLang="en-US" sz="1600" b="0" i="0" dirty="0">
              <a:solidFill>
                <a:srgbClr val="2E3C4E"/>
              </a:solidFill>
              <a:effectLst/>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Route 53 </a:t>
            </a:r>
            <a:r>
              <a:rPr lang="zh-CN" altLang="en-US" b="1" dirty="0"/>
              <a:t>发布了 </a:t>
            </a:r>
            <a:r>
              <a:rPr lang="en-US" altLang="zh-CN" b="1" dirty="0"/>
              <a:t>Resolver </a:t>
            </a:r>
            <a:r>
              <a:rPr lang="zh-CN" altLang="en-US" b="1" dirty="0"/>
              <a:t>端点的详细指标</a:t>
            </a:r>
          </a:p>
        </p:txBody>
      </p:sp>
    </p:spTree>
    <p:extLst>
      <p:ext uri="{BB962C8B-B14F-4D97-AF65-F5344CB8AC3E}">
        <p14:creationId xmlns:p14="http://schemas.microsoft.com/office/powerpoint/2010/main" val="648467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65000"/>
              <a:lumOff val="3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AWS </a:t>
            </a:r>
            <a:r>
              <a:rPr lang="zh-CN" altLang="en-US" b="1" dirty="0"/>
              <a:t>市场和合作伙伴 </a:t>
            </a:r>
          </a:p>
        </p:txBody>
      </p:sp>
      <p:sp>
        <p:nvSpPr>
          <p:cNvPr id="14" name="Rectangle 13">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31754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24</a:t>
            </a:r>
            <a:r>
              <a:rPr lang="zh-CN" altLang="en-US" sz="1600" b="0" i="0" dirty="0">
                <a:effectLst/>
                <a:latin typeface="Helvetica" panose="020B0604020202020204" pitchFamily="34" charset="0"/>
              </a:rPr>
              <a:t>日</a:t>
            </a:r>
          </a:p>
          <a:p>
            <a:pPr algn="l"/>
            <a:r>
              <a:rPr lang="en-US" altLang="zh-CN" sz="1600" b="0" i="0" dirty="0">
                <a:effectLst/>
                <a:latin typeface="Helvetica" panose="020B0604020202020204" pitchFamily="34" charset="0"/>
              </a:rPr>
              <a:t>Amazon IoT </a:t>
            </a:r>
            <a:r>
              <a:rPr lang="zh-CN" altLang="en-US" sz="1600" b="0" i="0" dirty="0">
                <a:effectLst/>
                <a:latin typeface="Helvetica" panose="020B0604020202020204" pitchFamily="34" charset="0"/>
              </a:rPr>
              <a:t>现已支持基于事件的日志记录功能，这是一项新功能，能够帮助开发人员降低 </a:t>
            </a:r>
            <a:r>
              <a:rPr lang="en-US" altLang="zh-CN" sz="1600" b="0" i="0" dirty="0">
                <a:effectLst/>
                <a:latin typeface="Helvetica" panose="020B0604020202020204" pitchFamily="34" charset="0"/>
              </a:rPr>
              <a:t>Amazon CloudWatch </a:t>
            </a:r>
            <a:r>
              <a:rPr lang="zh-CN" altLang="en-US" sz="1600" b="0" i="0" dirty="0">
                <a:effectLst/>
                <a:latin typeface="Helvetica" panose="020B0604020202020204" pitchFamily="34" charset="0"/>
              </a:rPr>
              <a:t>的成本，同时提高日志管理效率。此功能支持通过可自定义的日志级别和 </a:t>
            </a:r>
            <a:r>
              <a:rPr lang="en-US" altLang="zh-CN" sz="1600" b="0" i="0" dirty="0">
                <a:effectLst/>
                <a:latin typeface="Helvetica" panose="020B0604020202020204" pitchFamily="34" charset="0"/>
              </a:rPr>
              <a:t>Amazon CloudWatch </a:t>
            </a:r>
            <a:r>
              <a:rPr lang="zh-CN" altLang="en-US" sz="1600" b="0" i="0" dirty="0">
                <a:effectLst/>
                <a:latin typeface="Helvetica" panose="020B0604020202020204" pitchFamily="34" charset="0"/>
              </a:rPr>
              <a:t>日志组目标对单个事件进行定向日志记录。</a:t>
            </a:r>
            <a:br>
              <a:rPr lang="zh-CN" altLang="en-US" sz="1600" b="0" i="0" dirty="0">
                <a:effectLst/>
                <a:latin typeface="Helvetica" panose="020B0604020202020204" pitchFamily="34" charset="0"/>
              </a:rPr>
            </a:br>
            <a:br>
              <a:rPr lang="zh-CN" altLang="en-US" sz="1600" b="0" i="0" dirty="0">
                <a:effectLst/>
                <a:latin typeface="Helvetica" panose="020B0604020202020204" pitchFamily="34" charset="0"/>
              </a:rPr>
            </a:br>
            <a:r>
              <a:rPr lang="zh-CN" altLang="en-US" sz="1600" b="0" i="0" dirty="0">
                <a:effectLst/>
                <a:latin typeface="Helvetica" panose="020B0604020202020204" pitchFamily="34" charset="0"/>
              </a:rPr>
              <a:t>通过基于事件的日志记录功能，您可以根据各类 </a:t>
            </a:r>
            <a:r>
              <a:rPr lang="en-US" altLang="zh-CN" sz="1600" b="0" i="0" dirty="0">
                <a:effectLst/>
                <a:latin typeface="Helvetica" panose="020B0604020202020204" pitchFamily="34" charset="0"/>
              </a:rPr>
              <a:t>IoT </a:t>
            </a:r>
            <a:r>
              <a:rPr lang="zh-CN" altLang="en-US" sz="1600" b="0" i="0" dirty="0">
                <a:effectLst/>
                <a:latin typeface="Helvetica" panose="020B0604020202020204" pitchFamily="34" charset="0"/>
              </a:rPr>
              <a:t>事件的运营重要性，为其设置不同的日志级别。例如，您可以为 </a:t>
            </a:r>
            <a:r>
              <a:rPr lang="en-US" altLang="zh-CN" sz="1600" b="0" i="0" dirty="0" err="1">
                <a:effectLst/>
                <a:latin typeface="Helvetica" panose="020B0604020202020204" pitchFamily="34" charset="0"/>
              </a:rPr>
              <a:t>certificateProvider</a:t>
            </a:r>
            <a:r>
              <a:rPr lang="en-US" altLang="zh-CN" sz="1600" b="0" i="0" dirty="0">
                <a:effectLst/>
                <a:latin typeface="Helvetica" panose="020B0604020202020204" pitchFamily="34" charset="0"/>
              </a:rPr>
              <a:t> </a:t>
            </a:r>
            <a:r>
              <a:rPr lang="zh-CN" altLang="en-US" sz="1600" b="0" i="0" dirty="0">
                <a:effectLst/>
                <a:latin typeface="Helvetica" panose="020B0604020202020204" pitchFamily="34" charset="0"/>
              </a:rPr>
              <a:t>事件配置信息（</a:t>
            </a:r>
            <a:r>
              <a:rPr lang="en-US" altLang="zh-CN" sz="1600" b="0" i="0" dirty="0">
                <a:effectLst/>
                <a:latin typeface="Helvetica" panose="020B0604020202020204" pitchFamily="34" charset="0"/>
              </a:rPr>
              <a:t>INFO</a:t>
            </a:r>
            <a:r>
              <a:rPr lang="zh-CN" altLang="en-US" sz="1600" b="0" i="0" dirty="0">
                <a:effectLst/>
                <a:latin typeface="Helvetica" panose="020B0604020202020204" pitchFamily="34" charset="0"/>
              </a:rPr>
              <a:t>）级日志记录，而为连接事件等重要性较低的活动保留错误（</a:t>
            </a:r>
            <a:r>
              <a:rPr lang="en-US" altLang="zh-CN" sz="1600" b="0" i="0" dirty="0">
                <a:effectLst/>
                <a:latin typeface="Helvetica" panose="020B0604020202020204" pitchFamily="34" charset="0"/>
              </a:rPr>
              <a:t>ERROR</a:t>
            </a:r>
            <a:r>
              <a:rPr lang="zh-CN" altLang="en-US" sz="1600" b="0" i="0" dirty="0">
                <a:effectLst/>
                <a:latin typeface="Helvetica" panose="020B0604020202020204" pitchFamily="34" charset="0"/>
              </a:rPr>
              <a:t>）级日志记录。这种精细的配置方式让您能够全面了解自己的 </a:t>
            </a:r>
            <a:r>
              <a:rPr lang="en-US" altLang="zh-CN" sz="1600" b="0" i="0" dirty="0">
                <a:effectLst/>
                <a:latin typeface="Helvetica" panose="020B0604020202020204" pitchFamily="34" charset="0"/>
              </a:rPr>
              <a:t>IoT </a:t>
            </a:r>
            <a:r>
              <a:rPr lang="zh-CN" altLang="en-US" sz="1600" b="0" i="0" dirty="0">
                <a:effectLst/>
                <a:latin typeface="Helvetica" panose="020B0604020202020204" pitchFamily="34" charset="0"/>
              </a:rPr>
              <a:t>运营情况，而无需以统一的详细程度记录每项活动，从而提高日志的可搜索性和分析效率，同时帮助降低成本。</a:t>
            </a:r>
            <a:br>
              <a:rPr lang="zh-CN" altLang="en-US" sz="1600" b="0" i="0" dirty="0">
                <a:effectLst/>
                <a:latin typeface="Helvetica" panose="020B0604020202020204" pitchFamily="34" charset="0"/>
              </a:rPr>
            </a:br>
            <a:br>
              <a:rPr lang="zh-CN" altLang="en-US" sz="1600" b="0" i="0" dirty="0">
                <a:effectLst/>
                <a:latin typeface="Helvetica" panose="020B0604020202020204" pitchFamily="34" charset="0"/>
              </a:rPr>
            </a:br>
            <a:r>
              <a:rPr lang="zh-CN" altLang="en-US" sz="1600" b="0" i="0" dirty="0">
                <a:effectLst/>
                <a:latin typeface="Helvetica" panose="020B0604020202020204" pitchFamily="34" charset="0"/>
              </a:rPr>
              <a:t>事件级日志记录功能现已在由光环新网运营的亚马逊云科技中国（北京）区域以及由西云数据运营的亚马逊云科技中国（宁夏）区域开放配置，您可以通过 </a:t>
            </a:r>
            <a:r>
              <a:rPr lang="en-US" altLang="zh-CN" sz="1600" b="0" i="0" dirty="0">
                <a:effectLst/>
                <a:latin typeface="Helvetica" panose="020B0604020202020204" pitchFamily="34" charset="0"/>
              </a:rPr>
              <a:t>Amazon IoT </a:t>
            </a:r>
            <a:r>
              <a:rPr lang="zh-CN" altLang="en-US" sz="1600" b="0" i="0" dirty="0">
                <a:effectLst/>
                <a:latin typeface="Helvetica" panose="020B0604020202020204" pitchFamily="34" charset="0"/>
              </a:rPr>
              <a:t>控制台、</a:t>
            </a:r>
            <a:r>
              <a:rPr lang="en-US" altLang="zh-CN" sz="1600" b="0" i="0" dirty="0">
                <a:effectLst/>
                <a:latin typeface="Helvetica" panose="020B0604020202020204" pitchFamily="34" charset="0"/>
              </a:rPr>
              <a:t>CLI </a:t>
            </a:r>
            <a:r>
              <a:rPr lang="zh-CN" altLang="en-US" sz="1600" b="0" i="0" dirty="0">
                <a:effectLst/>
                <a:latin typeface="Helvetica" panose="020B0604020202020204" pitchFamily="34" charset="0"/>
              </a:rPr>
              <a:t>和 </a:t>
            </a:r>
            <a:r>
              <a:rPr lang="en-US" altLang="zh-CN" sz="1600" b="0" i="0" dirty="0">
                <a:effectLst/>
                <a:latin typeface="Helvetica" panose="020B0604020202020204" pitchFamily="34" charset="0"/>
              </a:rPr>
              <a:t>API </a:t>
            </a:r>
            <a:r>
              <a:rPr lang="zh-CN" altLang="en-US" sz="1600" b="0" i="0" dirty="0">
                <a:effectLst/>
                <a:latin typeface="Helvetica" panose="020B0604020202020204" pitchFamily="34" charset="0"/>
              </a:rPr>
              <a:t>执行此操作。要详细了解如何配置基于事件的日志记录，请访问 </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Amazon IoT </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开发人员指南</a:t>
            </a:r>
            <a:r>
              <a:rPr lang="zh-CN" altLang="en-US" sz="1600" b="0" i="0" dirty="0">
                <a:effectLst/>
                <a:latin typeface="Helvetica" panose="020B0604020202020204" pitchFamily="34" charset="0"/>
              </a:rPr>
              <a:t>。</a:t>
            </a:r>
            <a:endParaRPr lang="en-US" altLang="zh-CN" sz="1600" b="0" i="0" dirty="0">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a:p>
            <a:pPr algn="l"/>
            <a:r>
              <a:rPr lang="en-US" altLang="zh-CN" sz="1600" b="0" i="0" dirty="0">
                <a:solidFill>
                  <a:srgbClr val="2E3C4E"/>
                </a:solidFill>
                <a:effectLst/>
                <a:latin typeface="Helvetica" panose="020B0604020202020204" pitchFamily="34" charset="0"/>
                <a:hlinkClick r:id="rId3"/>
              </a:rPr>
              <a:t>https://www.amazonaws.cn/new/2025/amazon-iot-offers-event-based-logging-to-help-optimize-observability-costs/</a:t>
            </a:r>
            <a:endParaRPr lang="en-US" altLang="zh-CN" sz="1600" b="0" i="0" dirty="0">
              <a:solidFill>
                <a:srgbClr val="2E3C4E"/>
              </a:solidFill>
              <a:effectLst/>
              <a:latin typeface="Helvetica" panose="020B0604020202020204" pitchFamily="34" charset="0"/>
            </a:endParaRPr>
          </a:p>
          <a:p>
            <a:pPr algn="l"/>
            <a:endParaRPr lang="zh-CN" altLang="en-US" sz="1600" b="0" i="0" dirty="0">
              <a:solidFill>
                <a:srgbClr val="2E3C4E"/>
              </a:solidFill>
              <a:effectLst/>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b="1" dirty="0"/>
              <a:t>Amazon IoT </a:t>
            </a:r>
            <a:r>
              <a:rPr lang="zh-CN" altLang="en-US" b="1" dirty="0"/>
              <a:t>现在提供基于事件的日志记录，以帮助优化可观测性成本</a:t>
            </a:r>
          </a:p>
        </p:txBody>
      </p:sp>
    </p:spTree>
    <p:extLst>
      <p:ext uri="{BB962C8B-B14F-4D97-AF65-F5344CB8AC3E}">
        <p14:creationId xmlns:p14="http://schemas.microsoft.com/office/powerpoint/2010/main" val="3932523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AAF0-3254-954D-BF75-4CA3942A4BB7}"/>
              </a:ext>
            </a:extLst>
          </p:cNvPr>
          <p:cNvSpPr>
            <a:spLocks noGrp="1"/>
          </p:cNvSpPr>
          <p:nvPr>
            <p:ph type="title"/>
          </p:nvPr>
        </p:nvSpPr>
        <p:spPr/>
        <p:txBody>
          <a:bodyPr/>
          <a:lstStyle/>
          <a:p>
            <a:r>
              <a:rPr lang="zh-CN" altLang="en-US" dirty="0"/>
              <a:t>新功能新服务目录</a:t>
            </a:r>
            <a:endParaRPr lang="en-US" dirty="0"/>
          </a:p>
        </p:txBody>
      </p:sp>
      <p:sp>
        <p:nvSpPr>
          <p:cNvPr id="3" name="Rectangle 2">
            <a:extLst>
              <a:ext uri="{FF2B5EF4-FFF2-40B4-BE49-F238E27FC236}">
                <a16:creationId xmlns:a16="http://schemas.microsoft.com/office/drawing/2014/main" id="{F1E3E641-0C1B-674B-8789-3C18DF83AEA8}"/>
              </a:ext>
            </a:extLst>
          </p:cNvPr>
          <p:cNvSpPr/>
          <p:nvPr/>
        </p:nvSpPr>
        <p:spPr>
          <a:xfrm>
            <a:off x="3162300" y="1822876"/>
            <a:ext cx="2311400" cy="11870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Analytics </a:t>
            </a:r>
            <a:r>
              <a:rPr lang="zh-CN" altLang="en-US" b="1" dirty="0">
                <a:latin typeface="Microsoft YaHei" panose="020B0503020204020204" pitchFamily="34" charset="-122"/>
                <a:ea typeface="Microsoft YaHei" panose="020B0503020204020204" pitchFamily="34" charset="-122"/>
              </a:rPr>
              <a:t>分析</a:t>
            </a:r>
            <a:endParaRPr lang="en-US" b="1"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B66AA31E-E57F-544A-9C7D-D66AC1E6A37A}"/>
              </a:ext>
            </a:extLst>
          </p:cNvPr>
          <p:cNvSpPr/>
          <p:nvPr/>
        </p:nvSpPr>
        <p:spPr>
          <a:xfrm>
            <a:off x="3162300" y="4245137"/>
            <a:ext cx="2311400" cy="106346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Compute </a:t>
            </a:r>
            <a:r>
              <a:rPr lang="zh-CN" altLang="en-US" b="1" dirty="0">
                <a:latin typeface="Microsoft YaHei" panose="020B0503020204020204" pitchFamily="34" charset="-122"/>
                <a:ea typeface="Microsoft YaHei" panose="020B0503020204020204" pitchFamily="34" charset="-122"/>
              </a:rPr>
              <a:t>计算</a:t>
            </a:r>
            <a:endParaRPr lang="en-US" b="1" dirty="0">
              <a:latin typeface="Microsoft YaHei" panose="020B0503020204020204" pitchFamily="34" charset="-122"/>
              <a:ea typeface="Microsoft YaHei" panose="020B0503020204020204" pitchFamily="34" charset="-122"/>
            </a:endParaRPr>
          </a:p>
        </p:txBody>
      </p:sp>
      <p:sp>
        <p:nvSpPr>
          <p:cNvPr id="9" name="Rectangle 8">
            <a:extLst>
              <a:ext uri="{FF2B5EF4-FFF2-40B4-BE49-F238E27FC236}">
                <a16:creationId xmlns:a16="http://schemas.microsoft.com/office/drawing/2014/main" id="{78BEE4F2-78B5-AB44-890B-B2CEA63CE658}"/>
              </a:ext>
            </a:extLst>
          </p:cNvPr>
          <p:cNvSpPr/>
          <p:nvPr/>
        </p:nvSpPr>
        <p:spPr>
          <a:xfrm>
            <a:off x="5638800" y="1822876"/>
            <a:ext cx="2311400" cy="9457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Database </a:t>
            </a:r>
            <a:r>
              <a:rPr lang="zh-CN" altLang="en-US" b="1" dirty="0">
                <a:latin typeface="Microsoft YaHei" panose="020B0503020204020204" pitchFamily="34" charset="-122"/>
                <a:ea typeface="Microsoft YaHei" panose="020B0503020204020204" pitchFamily="34" charset="-122"/>
              </a:rPr>
              <a:t>数据库</a:t>
            </a:r>
            <a:endParaRPr lang="en-US" b="1" dirty="0">
              <a:latin typeface="Microsoft YaHei" panose="020B0503020204020204" pitchFamily="34" charset="-122"/>
              <a:ea typeface="Microsoft YaHei" panose="020B0503020204020204" pitchFamily="34" charset="-122"/>
            </a:endParaRPr>
          </a:p>
        </p:txBody>
      </p:sp>
      <p:sp>
        <p:nvSpPr>
          <p:cNvPr id="11" name="Rectangle 10">
            <a:extLst>
              <a:ext uri="{FF2B5EF4-FFF2-40B4-BE49-F238E27FC236}">
                <a16:creationId xmlns:a16="http://schemas.microsoft.com/office/drawing/2014/main" id="{44474DAE-F107-1648-8D78-C1E07F0A6383}"/>
              </a:ext>
            </a:extLst>
          </p:cNvPr>
          <p:cNvSpPr/>
          <p:nvPr/>
        </p:nvSpPr>
        <p:spPr>
          <a:xfrm>
            <a:off x="5638800" y="2938135"/>
            <a:ext cx="2311400" cy="856396"/>
          </a:xfrm>
          <a:prstGeom prst="rect">
            <a:avLst/>
          </a:prstGeom>
          <a:solidFill>
            <a:schemeClr val="tx1">
              <a:lumMod val="65000"/>
              <a:lumOff val="3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Security</a:t>
            </a:r>
            <a:r>
              <a:rPr lang="zh-CN" altLang="en-US" b="1" dirty="0"/>
              <a:t> </a:t>
            </a:r>
            <a:r>
              <a:rPr lang="en-US" b="1" dirty="0"/>
              <a:t> </a:t>
            </a:r>
            <a:r>
              <a:rPr lang="zh-CN" altLang="en-US" b="1" dirty="0">
                <a:latin typeface="Microsoft YaHei" panose="020B0503020204020204" pitchFamily="34" charset="-122"/>
                <a:ea typeface="Microsoft YaHei" panose="020B0503020204020204" pitchFamily="34" charset="-122"/>
              </a:rPr>
              <a:t>安全工具</a:t>
            </a:r>
            <a:endParaRPr lang="en-US" b="1" dirty="0">
              <a:latin typeface="Microsoft YaHei" panose="020B0503020204020204" pitchFamily="34" charset="-122"/>
              <a:ea typeface="Microsoft YaHei" panose="020B0503020204020204" pitchFamily="34" charset="-122"/>
            </a:endParaRPr>
          </a:p>
        </p:txBody>
      </p:sp>
      <p:sp>
        <p:nvSpPr>
          <p:cNvPr id="13" name="Rectangle 12">
            <a:extLst>
              <a:ext uri="{FF2B5EF4-FFF2-40B4-BE49-F238E27FC236}">
                <a16:creationId xmlns:a16="http://schemas.microsoft.com/office/drawing/2014/main" id="{F70B6B1F-7F19-1A42-9667-2799536F7734}"/>
              </a:ext>
            </a:extLst>
          </p:cNvPr>
          <p:cNvSpPr/>
          <p:nvPr/>
        </p:nvSpPr>
        <p:spPr>
          <a:xfrm>
            <a:off x="5638800" y="3964065"/>
            <a:ext cx="2311400" cy="134453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Management </a:t>
            </a:r>
            <a:r>
              <a:rPr lang="zh-CN" altLang="en-US" b="1" dirty="0">
                <a:latin typeface="Microsoft YaHei" panose="020B0503020204020204" pitchFamily="34" charset="-122"/>
                <a:ea typeface="Microsoft YaHei" panose="020B0503020204020204" pitchFamily="34" charset="-122"/>
              </a:rPr>
              <a:t>管理工具</a:t>
            </a:r>
            <a:endParaRPr lang="en-US" b="1" dirty="0">
              <a:latin typeface="Microsoft YaHei" panose="020B0503020204020204" pitchFamily="34" charset="-122"/>
              <a:ea typeface="Microsoft YaHei" panose="020B0503020204020204" pitchFamily="34" charset="-122"/>
            </a:endParaRPr>
          </a:p>
        </p:txBody>
      </p:sp>
      <p:sp>
        <p:nvSpPr>
          <p:cNvPr id="16" name="Rectangle 15">
            <a:extLst>
              <a:ext uri="{FF2B5EF4-FFF2-40B4-BE49-F238E27FC236}">
                <a16:creationId xmlns:a16="http://schemas.microsoft.com/office/drawing/2014/main" id="{213030F3-4167-7646-974B-A4DA991CD244}"/>
              </a:ext>
            </a:extLst>
          </p:cNvPr>
          <p:cNvSpPr/>
          <p:nvPr/>
        </p:nvSpPr>
        <p:spPr>
          <a:xfrm>
            <a:off x="8115300" y="1822875"/>
            <a:ext cx="2311400" cy="5759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开发人员工具</a:t>
            </a:r>
          </a:p>
        </p:txBody>
      </p:sp>
      <p:sp>
        <p:nvSpPr>
          <p:cNvPr id="18" name="Rectangle 17">
            <a:extLst>
              <a:ext uri="{FF2B5EF4-FFF2-40B4-BE49-F238E27FC236}">
                <a16:creationId xmlns:a16="http://schemas.microsoft.com/office/drawing/2014/main" id="{B8BADC10-61DA-F943-B022-09A65C1FF1E4}"/>
              </a:ext>
            </a:extLst>
          </p:cNvPr>
          <p:cNvSpPr/>
          <p:nvPr/>
        </p:nvSpPr>
        <p:spPr>
          <a:xfrm>
            <a:off x="8115300" y="2565400"/>
            <a:ext cx="2311400" cy="9967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Networking </a:t>
            </a:r>
            <a:r>
              <a:rPr lang="zh-CN" altLang="en-US" b="1" dirty="0">
                <a:latin typeface="Microsoft YaHei" panose="020B0503020204020204" pitchFamily="34" charset="-122"/>
                <a:ea typeface="Microsoft YaHei" panose="020B0503020204020204" pitchFamily="34" charset="-122"/>
              </a:rPr>
              <a:t>网络</a:t>
            </a:r>
            <a:endParaRPr lang="en-US" b="1" dirty="0">
              <a:latin typeface="Microsoft YaHei" panose="020B0503020204020204" pitchFamily="34" charset="-122"/>
              <a:ea typeface="Microsoft YaHei" panose="020B0503020204020204" pitchFamily="34" charset="-122"/>
            </a:endParaRPr>
          </a:p>
        </p:txBody>
      </p:sp>
      <p:sp>
        <p:nvSpPr>
          <p:cNvPr id="22" name="Rectangle 21">
            <a:extLst>
              <a:ext uri="{FF2B5EF4-FFF2-40B4-BE49-F238E27FC236}">
                <a16:creationId xmlns:a16="http://schemas.microsoft.com/office/drawing/2014/main" id="{EB0AC3B1-85DA-FF4E-9854-311DE4569837}"/>
              </a:ext>
            </a:extLst>
          </p:cNvPr>
          <p:cNvSpPr/>
          <p:nvPr/>
        </p:nvSpPr>
        <p:spPr>
          <a:xfrm>
            <a:off x="8115300" y="3728740"/>
            <a:ext cx="2311400" cy="856397"/>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物联网</a:t>
            </a:r>
          </a:p>
        </p:txBody>
      </p:sp>
      <p:sp>
        <p:nvSpPr>
          <p:cNvPr id="24" name="Rectangle 23">
            <a:extLst>
              <a:ext uri="{FF2B5EF4-FFF2-40B4-BE49-F238E27FC236}">
                <a16:creationId xmlns:a16="http://schemas.microsoft.com/office/drawing/2014/main" id="{D790D2DE-44DC-C14E-86B1-CECD429C140E}"/>
              </a:ext>
            </a:extLst>
          </p:cNvPr>
          <p:cNvSpPr/>
          <p:nvPr/>
        </p:nvSpPr>
        <p:spPr>
          <a:xfrm>
            <a:off x="1727200" y="1822875"/>
            <a:ext cx="1270000" cy="3485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latin typeface="Microsoft YaHei" panose="020B0503020204020204" pitchFamily="34" charset="-122"/>
                <a:ea typeface="Microsoft YaHei" panose="020B0503020204020204" pitchFamily="34" charset="-122"/>
              </a:rPr>
              <a:t>Special</a:t>
            </a:r>
            <a:r>
              <a:rPr lang="zh-CN" altLang="en-US" b="1" dirty="0">
                <a:latin typeface="Microsoft YaHei" panose="020B0503020204020204" pitchFamily="34" charset="-122"/>
                <a:ea typeface="Microsoft YaHei" panose="020B0503020204020204" pitchFamily="34" charset="-122"/>
              </a:rPr>
              <a:t> </a:t>
            </a:r>
            <a:endParaRPr lang="en-US" altLang="zh-CN" b="1" dirty="0">
              <a:latin typeface="Microsoft YaHei" panose="020B0503020204020204" pitchFamily="34" charset="-122"/>
              <a:ea typeface="Microsoft YaHei" panose="020B0503020204020204" pitchFamily="34" charset="-122"/>
            </a:endParaRPr>
          </a:p>
          <a:p>
            <a:pPr algn="ctr"/>
            <a:r>
              <a:rPr lang="zh-CN" altLang="en-US" b="1" dirty="0">
                <a:latin typeface="Microsoft YaHei" panose="020B0503020204020204" pitchFamily="34" charset="-122"/>
                <a:ea typeface="Microsoft YaHei" panose="020B0503020204020204" pitchFamily="34" charset="-122"/>
              </a:rPr>
              <a:t>特别推荐</a:t>
            </a:r>
            <a:endParaRPr lang="en-US" b="1" dirty="0">
              <a:latin typeface="Microsoft YaHei" panose="020B0503020204020204" pitchFamily="34" charset="-122"/>
              <a:ea typeface="Microsoft YaHei" panose="020B0503020204020204" pitchFamily="34" charset="-122"/>
            </a:endParaRPr>
          </a:p>
        </p:txBody>
      </p:sp>
      <p:sp>
        <p:nvSpPr>
          <p:cNvPr id="26" name="Rectangle 25">
            <a:extLst>
              <a:ext uri="{FF2B5EF4-FFF2-40B4-BE49-F238E27FC236}">
                <a16:creationId xmlns:a16="http://schemas.microsoft.com/office/drawing/2014/main" id="{0E249504-6006-8C4A-8F59-43417D0E686B}"/>
              </a:ext>
            </a:extLst>
          </p:cNvPr>
          <p:cNvSpPr/>
          <p:nvPr/>
        </p:nvSpPr>
        <p:spPr>
          <a:xfrm>
            <a:off x="8115300" y="4736536"/>
            <a:ext cx="2311400" cy="572062"/>
          </a:xfrm>
          <a:prstGeom prst="rect">
            <a:avLst/>
          </a:prstGeom>
          <a:solidFill>
            <a:schemeClr val="accent3">
              <a:lumMod val="20000"/>
              <a:lumOff val="8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AWS </a:t>
            </a:r>
            <a:r>
              <a:rPr lang="zh-CN" altLang="en-US" b="1" dirty="0"/>
              <a:t>市场和合作伙伴 </a:t>
            </a:r>
          </a:p>
        </p:txBody>
      </p:sp>
      <p:sp>
        <p:nvSpPr>
          <p:cNvPr id="14" name="Rectangle 13">
            <a:extLst>
              <a:ext uri="{FF2B5EF4-FFF2-40B4-BE49-F238E27FC236}">
                <a16:creationId xmlns:a16="http://schemas.microsoft.com/office/drawing/2014/main" id="{CD9E240B-9E9D-8F42-8B83-B8E46EA3B7F1}"/>
              </a:ext>
            </a:extLst>
          </p:cNvPr>
          <p:cNvSpPr/>
          <p:nvPr/>
        </p:nvSpPr>
        <p:spPr>
          <a:xfrm>
            <a:off x="3162300" y="3202970"/>
            <a:ext cx="2311400" cy="856396"/>
          </a:xfrm>
          <a:prstGeom prst="rect">
            <a:avLst/>
          </a:prstGeom>
          <a:solidFill>
            <a:schemeClr val="tx1">
              <a:lumMod val="75000"/>
              <a:lumOff val="2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Storage </a:t>
            </a:r>
            <a:r>
              <a:rPr lang="zh-CN" altLang="en-US" b="1" dirty="0"/>
              <a:t>存储</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92311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新服务／新功能</a:t>
            </a:r>
            <a:endParaRPr dirty="0"/>
          </a:p>
        </p:txBody>
      </p:sp>
      <p:sp>
        <p:nvSpPr>
          <p:cNvPr id="3" name="Content Placeholder 2"/>
          <p:cNvSpPr>
            <a:spLocks noGrp="1"/>
          </p:cNvSpPr>
          <p:nvPr>
            <p:ph idx="1"/>
          </p:nvPr>
        </p:nvSpPr>
        <p:spPr>
          <a:xfrm>
            <a:off x="448056" y="1947672"/>
            <a:ext cx="11523034" cy="4142232"/>
          </a:xfrm>
        </p:spPr>
        <p:txBody>
          <a:bodyPr/>
          <a:lstStyle/>
          <a:p>
            <a:pPr algn="l"/>
            <a:r>
              <a:rPr lang="zh-CN" altLang="en-US" sz="1600" b="0" i="0" dirty="0">
                <a:effectLst/>
                <a:latin typeface="Helvetica" panose="020B0604020202020204" pitchFamily="34" charset="0"/>
              </a:rPr>
              <a:t>发布于</a:t>
            </a:r>
            <a:r>
              <a:rPr lang="en-US" altLang="zh-CN" sz="1600" b="0" i="0" dirty="0">
                <a:effectLst/>
                <a:latin typeface="Helvetica" panose="020B0604020202020204" pitchFamily="34" charset="0"/>
              </a:rPr>
              <a:t>: 2025</a:t>
            </a:r>
            <a:r>
              <a:rPr lang="zh-CN" altLang="en-US" sz="1600" b="0" i="0" dirty="0">
                <a:effectLst/>
                <a:latin typeface="Helvetica" panose="020B0604020202020204" pitchFamily="34" charset="0"/>
              </a:rPr>
              <a:t>年</a:t>
            </a:r>
            <a:r>
              <a:rPr lang="en-US" altLang="zh-CN" sz="1600" b="0" i="0" dirty="0">
                <a:effectLst/>
                <a:latin typeface="Helvetica" panose="020B0604020202020204" pitchFamily="34" charset="0"/>
              </a:rPr>
              <a:t>12</a:t>
            </a:r>
            <a:r>
              <a:rPr lang="zh-CN" altLang="en-US" sz="1600" b="0" i="0" dirty="0">
                <a:effectLst/>
                <a:latin typeface="Helvetica" panose="020B0604020202020204" pitchFamily="34" charset="0"/>
              </a:rPr>
              <a:t>月</a:t>
            </a:r>
            <a:r>
              <a:rPr lang="en-US" altLang="zh-CN" sz="1600" b="0" i="0" dirty="0">
                <a:effectLst/>
                <a:latin typeface="Helvetica" panose="020B0604020202020204" pitchFamily="34" charset="0"/>
              </a:rPr>
              <a:t>5</a:t>
            </a:r>
            <a:r>
              <a:rPr lang="zh-CN" altLang="en-US" sz="1600" b="0" i="0" dirty="0">
                <a:effectLst/>
                <a:latin typeface="Helvetica" panose="020B0604020202020204" pitchFamily="34" charset="0"/>
              </a:rPr>
              <a:t>日</a:t>
            </a:r>
          </a:p>
          <a:p>
            <a:pPr algn="l"/>
            <a:r>
              <a:rPr lang="zh-CN" altLang="en-US" sz="1600" b="0" i="0" dirty="0">
                <a:effectLst/>
                <a:latin typeface="Helvetica" panose="020B0604020202020204" pitchFamily="34" charset="0"/>
              </a:rPr>
              <a:t>今天，</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亚马逊云科技 </a:t>
            </a:r>
            <a:r>
              <a:rPr lang="en-US" altLang="zh-CN"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Marketplace </a:t>
            </a:r>
            <a:r>
              <a:rPr lang="zh-CN" altLang="en-US" sz="1600" b="0" i="0" u="sng" dirty="0">
                <a:effectLst/>
                <a:latin typeface="Helvetica" panose="020B0604020202020204" pitchFamily="34" charset="0"/>
                <a:hlinkClick r:id="rId2">
                  <a:extLst>
                    <a:ext uri="{A12FA001-AC4F-418D-AE19-62706E023703}">
                      <ahyp:hlinkClr xmlns:ahyp="http://schemas.microsoft.com/office/drawing/2018/hyperlinkcolor" val="tx"/>
                    </a:ext>
                  </a:extLst>
                </a:hlinkClick>
              </a:rPr>
              <a:t>中国</a:t>
            </a:r>
            <a:r>
              <a:rPr lang="zh-CN" altLang="en-US" sz="1600" b="0" i="0" dirty="0">
                <a:effectLst/>
                <a:latin typeface="Helvetica" panose="020B0604020202020204" pitchFamily="34" charset="0"/>
              </a:rPr>
              <a:t>（</a:t>
            </a:r>
            <a:r>
              <a:rPr lang="en-US" altLang="zh-CN" sz="1600" b="0" i="0" dirty="0">
                <a:effectLst/>
                <a:latin typeface="Helvetica" panose="020B0604020202020204" pitchFamily="34" charset="0"/>
              </a:rPr>
              <a:t>MPCN</a:t>
            </a:r>
            <a:r>
              <a:rPr lang="zh-CN" altLang="en-US" sz="1600" b="0" i="0" dirty="0">
                <a:effectLst/>
                <a:latin typeface="Helvetica" panose="020B0604020202020204" pitchFamily="34" charset="0"/>
              </a:rPr>
              <a:t>）推出适用于 </a:t>
            </a:r>
            <a:r>
              <a:rPr lang="en-US" altLang="zh-CN" sz="1600" b="0" i="0" dirty="0">
                <a:effectLst/>
                <a:latin typeface="Helvetica" panose="020B0604020202020204" pitchFamily="34" charset="0"/>
              </a:rPr>
              <a:t>Professional Services </a:t>
            </a:r>
            <a:r>
              <a:rPr lang="zh-CN" altLang="en-US" sz="1600" b="0" i="0" dirty="0">
                <a:effectLst/>
                <a:latin typeface="Helvetica" panose="020B0604020202020204" pitchFamily="34" charset="0"/>
              </a:rPr>
              <a:t>产品的 </a:t>
            </a:r>
            <a:r>
              <a:rPr lang="en-US" altLang="zh-CN" sz="1600" b="0" i="0" dirty="0">
                <a:effectLst/>
                <a:latin typeface="Helvetica" panose="020B0604020202020204" pitchFamily="34" charset="0"/>
              </a:rPr>
              <a:t>SSLv2</a:t>
            </a:r>
            <a:r>
              <a:rPr lang="zh-CN" altLang="en-US" sz="1600" b="0" i="0" dirty="0">
                <a:effectLst/>
                <a:latin typeface="Helvetica" panose="020B0604020202020204" pitchFamily="34" charset="0"/>
              </a:rPr>
              <a:t>（自助列表），使 </a:t>
            </a:r>
            <a:r>
              <a:rPr lang="en-US" altLang="zh-CN" sz="1600" b="0" i="0" dirty="0">
                <a:effectLst/>
                <a:latin typeface="Helvetica" panose="020B0604020202020204" pitchFamily="34" charset="0"/>
              </a:rPr>
              <a:t>MPCN </a:t>
            </a:r>
            <a:r>
              <a:rPr lang="zh-CN" altLang="en-US" sz="1600" b="0" i="0" dirty="0">
                <a:effectLst/>
                <a:latin typeface="Helvetica" panose="020B0604020202020204" pitchFamily="34" charset="0"/>
              </a:rPr>
              <a:t>卖家能够通过自助方式更高效、更便捷地在 </a:t>
            </a:r>
            <a:r>
              <a:rPr lang="en-US" altLang="zh-CN" sz="1600" b="0" i="0" dirty="0">
                <a:effectLst/>
                <a:latin typeface="Helvetica" panose="020B0604020202020204" pitchFamily="34" charset="0"/>
              </a:rPr>
              <a:t>MPCN </a:t>
            </a:r>
            <a:r>
              <a:rPr lang="zh-CN" altLang="en-US" sz="1600" b="0" i="0" dirty="0">
                <a:effectLst/>
                <a:latin typeface="Helvetica" panose="020B0604020202020204" pitchFamily="34" charset="0"/>
              </a:rPr>
              <a:t>上发布和管理其 </a:t>
            </a:r>
            <a:r>
              <a:rPr lang="en-US" altLang="zh-CN" sz="1600" b="0" i="0" dirty="0">
                <a:effectLst/>
                <a:latin typeface="Helvetica" panose="020B0604020202020204" pitchFamily="34" charset="0"/>
              </a:rPr>
              <a:t>Professional Services </a:t>
            </a:r>
            <a:r>
              <a:rPr lang="zh-CN" altLang="en-US" sz="1600" b="0" i="0" dirty="0">
                <a:effectLst/>
                <a:latin typeface="Helvetica" panose="020B0604020202020204" pitchFamily="34" charset="0"/>
              </a:rPr>
              <a:t>产品。 此功能使卖家能够直接与 </a:t>
            </a:r>
            <a:r>
              <a:rPr lang="en-US" altLang="zh-CN" sz="1600" b="0" i="0" dirty="0">
                <a:effectLst/>
                <a:latin typeface="Helvetica" panose="020B0604020202020204" pitchFamily="34" charset="0"/>
              </a:rPr>
              <a:t>MPCN </a:t>
            </a:r>
            <a:r>
              <a:rPr lang="zh-CN" altLang="en-US" sz="1600" b="0" i="0" dirty="0">
                <a:effectLst/>
                <a:latin typeface="Helvetica" panose="020B0604020202020204" pitchFamily="34" charset="0"/>
              </a:rPr>
              <a:t>目录交互，在</a:t>
            </a:r>
            <a:r>
              <a:rPr lang="zh-CN" altLang="en-US"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亚马逊云科技 </a:t>
            </a:r>
            <a:r>
              <a:rPr lang="en-US" altLang="zh-CN"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Marketplace </a:t>
            </a:r>
            <a:r>
              <a:rPr lang="zh-CN" altLang="en-US"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中国管理门户（</a:t>
            </a:r>
            <a:r>
              <a:rPr lang="en-US" altLang="zh-CN"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AMMP</a:t>
            </a:r>
            <a:r>
              <a:rPr lang="zh-CN" altLang="en-US" sz="1600" b="0" i="0" u="sng" dirty="0">
                <a:effectLst/>
                <a:latin typeface="Helvetica" panose="020B0604020202020204" pitchFamily="34" charset="0"/>
                <a:hlinkClick r:id="rId3">
                  <a:extLst>
                    <a:ext uri="{A12FA001-AC4F-418D-AE19-62706E023703}">
                      <ahyp:hlinkClr xmlns:ahyp="http://schemas.microsoft.com/office/drawing/2018/hyperlinkcolor" val="tx"/>
                    </a:ext>
                  </a:extLst>
                </a:hlinkClick>
              </a:rPr>
              <a:t>）</a:t>
            </a:r>
            <a:r>
              <a:rPr lang="zh-CN" altLang="en-US" sz="1600" b="0" i="0" dirty="0">
                <a:effectLst/>
                <a:latin typeface="Helvetica" panose="020B0604020202020204" pitchFamily="34" charset="0"/>
              </a:rPr>
              <a:t>中创建、预览、测试和更新其 </a:t>
            </a:r>
            <a:r>
              <a:rPr lang="en-US" altLang="zh-CN" sz="1600" b="0" i="0" dirty="0">
                <a:effectLst/>
                <a:latin typeface="Helvetica" panose="020B0604020202020204" pitchFamily="34" charset="0"/>
              </a:rPr>
              <a:t>Professional Services </a:t>
            </a:r>
            <a:r>
              <a:rPr lang="zh-CN" altLang="en-US" sz="1600" b="0" i="0" dirty="0">
                <a:effectLst/>
                <a:latin typeface="Helvetica" panose="020B0604020202020204" pitchFamily="34" charset="0"/>
              </a:rPr>
              <a:t>产品列表，而无需发送电子邮件请求亚马逊云科技 </a:t>
            </a:r>
            <a:r>
              <a:rPr lang="en-US" altLang="zh-CN" sz="1600" b="0" i="0" dirty="0">
                <a:effectLst/>
                <a:latin typeface="Helvetica" panose="020B0604020202020204" pitchFamily="34" charset="0"/>
              </a:rPr>
              <a:t>Marketplace </a:t>
            </a:r>
            <a:r>
              <a:rPr lang="zh-CN" altLang="en-US" sz="1600" b="0" i="0" dirty="0">
                <a:effectLst/>
                <a:latin typeface="Helvetica" panose="020B0604020202020204" pitchFamily="34" charset="0"/>
              </a:rPr>
              <a:t>中国托管目录运营团队（</a:t>
            </a:r>
            <a:r>
              <a:rPr lang="en-US" altLang="zh-CN" sz="1600" b="0" i="0" dirty="0">
                <a:effectLst/>
                <a:latin typeface="Helvetica" panose="020B0604020202020204" pitchFamily="34" charset="0"/>
              </a:rPr>
              <a:t>MCO</a:t>
            </a:r>
            <a:r>
              <a:rPr lang="zh-CN" altLang="en-US" sz="1600" b="0" i="0" dirty="0">
                <a:effectLst/>
                <a:latin typeface="Helvetica" panose="020B0604020202020204" pitchFamily="34" charset="0"/>
              </a:rPr>
              <a:t>）代表卖家创建、更新和发布 </a:t>
            </a:r>
            <a:r>
              <a:rPr lang="en-US" altLang="zh-CN" sz="1600" b="0" i="0" dirty="0">
                <a:effectLst/>
                <a:latin typeface="Helvetica" panose="020B0604020202020204" pitchFamily="34" charset="0"/>
              </a:rPr>
              <a:t>Professional Services </a:t>
            </a:r>
            <a:r>
              <a:rPr lang="zh-CN" altLang="en-US" sz="1600" b="0" i="0" dirty="0">
                <a:effectLst/>
                <a:latin typeface="Helvetica" panose="020B0604020202020204" pitchFamily="34" charset="0"/>
              </a:rPr>
              <a:t>产品。此功能将加快产品上架流程。 </a:t>
            </a:r>
          </a:p>
          <a:p>
            <a:pPr algn="l"/>
            <a:r>
              <a:rPr lang="zh-CN" altLang="en-US" sz="1600" b="0" i="0" dirty="0">
                <a:effectLst/>
                <a:latin typeface="Helvetica" panose="020B0604020202020204" pitchFamily="34" charset="0"/>
              </a:rPr>
              <a:t>此次发布后，卖家可以创建 </a:t>
            </a:r>
            <a:r>
              <a:rPr lang="en-US" altLang="zh-CN" sz="1600" b="0" i="0" dirty="0">
                <a:effectLst/>
                <a:latin typeface="Helvetica" panose="020B0604020202020204" pitchFamily="34" charset="0"/>
              </a:rPr>
              <a:t>Professional Services </a:t>
            </a:r>
            <a:r>
              <a:rPr lang="zh-CN" altLang="en-US" sz="1600" b="0" i="0" dirty="0">
                <a:effectLst/>
                <a:latin typeface="Helvetica" panose="020B0604020202020204" pitchFamily="34" charset="0"/>
              </a:rPr>
              <a:t>产品并通过自助服务进行大部分更新。在创建列表期间，将引导卖家完成分步工作流程以填写必要信息。一旦提交并经 </a:t>
            </a:r>
            <a:r>
              <a:rPr lang="en-US" altLang="zh-CN" sz="1600" b="0" i="0" dirty="0">
                <a:effectLst/>
                <a:latin typeface="Helvetica" panose="020B0604020202020204" pitchFamily="34" charset="0"/>
              </a:rPr>
              <a:t>MPCN </a:t>
            </a:r>
            <a:r>
              <a:rPr lang="zh-CN" altLang="en-US" sz="1600" b="0" i="0" dirty="0">
                <a:effectLst/>
                <a:latin typeface="Helvetica" panose="020B0604020202020204" pitchFamily="34" charset="0"/>
              </a:rPr>
              <a:t>系统验证，列表将以有限的可见性发布，卖家可以预览和测试有限发布的产品。 当产品列表可公开时，卖家可以请求更改可见性，以便 </a:t>
            </a:r>
            <a:r>
              <a:rPr lang="en-US" altLang="zh-CN" sz="1600" b="0" i="0" dirty="0">
                <a:effectLst/>
                <a:latin typeface="Helvetica" panose="020B0604020202020204" pitchFamily="34" charset="0"/>
              </a:rPr>
              <a:t>MPCN </a:t>
            </a:r>
            <a:r>
              <a:rPr lang="zh-CN" altLang="en-US" sz="1600" b="0" i="0" dirty="0">
                <a:effectLst/>
                <a:latin typeface="Helvetica" panose="020B0604020202020204" pitchFamily="34" charset="0"/>
              </a:rPr>
              <a:t>团队验证该产品并使其公开可见供客户购买。</a:t>
            </a:r>
          </a:p>
          <a:p>
            <a:pPr algn="l"/>
            <a:r>
              <a:rPr lang="zh-CN" altLang="en-US" sz="1600" b="0" i="0" dirty="0">
                <a:effectLst/>
                <a:latin typeface="Helvetica" panose="020B0604020202020204" pitchFamily="34" charset="0"/>
              </a:rPr>
              <a:t>借助 </a:t>
            </a:r>
            <a:r>
              <a:rPr lang="en-US" altLang="zh-CN" sz="1600" b="0" i="0" dirty="0">
                <a:effectLst/>
                <a:latin typeface="Helvetica" panose="020B0604020202020204" pitchFamily="34" charset="0"/>
              </a:rPr>
              <a:t>SSLv2</a:t>
            </a:r>
            <a:r>
              <a:rPr lang="zh-CN" altLang="en-US" sz="1600" b="0" i="0" dirty="0">
                <a:effectLst/>
                <a:latin typeface="Helvetica" panose="020B0604020202020204" pitchFamily="34" charset="0"/>
              </a:rPr>
              <a:t>（自助列表），卖家可以：</a:t>
            </a:r>
            <a:r>
              <a:rPr lang="en-US" altLang="zh-CN" sz="1600" b="0" i="0" dirty="0">
                <a:effectLst/>
                <a:latin typeface="Helvetica" panose="020B0604020202020204" pitchFamily="34" charset="0"/>
              </a:rPr>
              <a:t>1) </a:t>
            </a:r>
            <a:r>
              <a:rPr lang="zh-CN" altLang="en-US" sz="1600" b="0" i="0" dirty="0">
                <a:effectLst/>
                <a:latin typeface="Helvetica" panose="020B0604020202020204" pitchFamily="34" charset="0"/>
              </a:rPr>
              <a:t>独立创建和更新 </a:t>
            </a:r>
            <a:r>
              <a:rPr lang="en-US" altLang="zh-CN" sz="1600" b="0" i="0" dirty="0">
                <a:effectLst/>
                <a:latin typeface="Helvetica" panose="020B0604020202020204" pitchFamily="34" charset="0"/>
              </a:rPr>
              <a:t>Professional Services </a:t>
            </a:r>
            <a:r>
              <a:rPr lang="zh-CN" altLang="en-US" sz="1600" b="0" i="0" dirty="0">
                <a:effectLst/>
                <a:latin typeface="Helvetica" panose="020B0604020202020204" pitchFamily="34" charset="0"/>
              </a:rPr>
              <a:t>产品信息；</a:t>
            </a:r>
            <a:r>
              <a:rPr lang="en-US" altLang="zh-CN" sz="1600" b="0" i="0" dirty="0">
                <a:effectLst/>
                <a:latin typeface="Helvetica" panose="020B0604020202020204" pitchFamily="34" charset="0"/>
              </a:rPr>
              <a:t>2) </a:t>
            </a:r>
            <a:r>
              <a:rPr lang="zh-CN" altLang="en-US" sz="1600" b="0" i="0" dirty="0">
                <a:effectLst/>
                <a:latin typeface="Helvetica" panose="020B0604020202020204" pitchFamily="34" charset="0"/>
              </a:rPr>
              <a:t>灵活管理 </a:t>
            </a:r>
            <a:r>
              <a:rPr lang="en-US" altLang="zh-CN" sz="1600" b="0" i="0" dirty="0">
                <a:effectLst/>
                <a:latin typeface="Helvetica" panose="020B0604020202020204" pitchFamily="34" charset="0"/>
              </a:rPr>
              <a:t>Professional Services </a:t>
            </a:r>
            <a:r>
              <a:rPr lang="zh-CN" altLang="en-US" sz="1600" b="0" i="0" dirty="0">
                <a:effectLst/>
                <a:latin typeface="Helvetica" panose="020B0604020202020204" pitchFamily="34" charset="0"/>
              </a:rPr>
              <a:t>定价维度和产品可见性；</a:t>
            </a:r>
            <a:r>
              <a:rPr lang="en-US" altLang="zh-CN" sz="1600" b="0" i="0" dirty="0">
                <a:effectLst/>
                <a:latin typeface="Helvetica" panose="020B0604020202020204" pitchFamily="34" charset="0"/>
              </a:rPr>
              <a:t>3) </a:t>
            </a:r>
            <a:r>
              <a:rPr lang="zh-CN" altLang="en-US" sz="1600" b="0" i="0" dirty="0">
                <a:effectLst/>
                <a:latin typeface="Helvetica" panose="020B0604020202020204" pitchFamily="34" charset="0"/>
              </a:rPr>
              <a:t>简化上架流程并缩短上市时间；</a:t>
            </a:r>
            <a:r>
              <a:rPr lang="en-US" altLang="zh-CN" sz="1600" b="0" i="0" dirty="0">
                <a:effectLst/>
                <a:latin typeface="Helvetica" panose="020B0604020202020204" pitchFamily="34" charset="0"/>
              </a:rPr>
              <a:t>4) </a:t>
            </a:r>
            <a:r>
              <a:rPr lang="zh-CN" altLang="en-US" sz="1600" b="0" i="0" dirty="0">
                <a:effectLst/>
                <a:latin typeface="Helvetica" panose="020B0604020202020204" pitchFamily="34" charset="0"/>
              </a:rPr>
              <a:t>实时监控列表状态和审查进度。 要立即试用该功能，请访问 </a:t>
            </a:r>
            <a:r>
              <a:rPr lang="en-US" altLang="zh-CN" sz="1600" b="0" i="0" dirty="0">
                <a:effectLst/>
                <a:latin typeface="Helvetica" panose="020B0604020202020204" pitchFamily="34" charset="0"/>
              </a:rPr>
              <a:t>AMMP </a:t>
            </a:r>
            <a:r>
              <a:rPr lang="zh-CN" altLang="en-US" sz="1600" b="0" i="0" dirty="0">
                <a:effectLst/>
                <a:latin typeface="Helvetica" panose="020B0604020202020204" pitchFamily="34" charset="0"/>
              </a:rPr>
              <a:t>并查看 </a:t>
            </a:r>
            <a:r>
              <a:rPr lang="en-US" altLang="zh-CN" sz="1600" b="0" i="0" u="sng" dirty="0">
                <a:effectLst/>
                <a:latin typeface="Helvetica" panose="020B0604020202020204" pitchFamily="34" charset="0"/>
                <a:hlinkClick r:id="rId4">
                  <a:extLst>
                    <a:ext uri="{A12FA001-AC4F-418D-AE19-62706E023703}">
                      <ahyp:hlinkClr xmlns:ahyp="http://schemas.microsoft.com/office/drawing/2018/hyperlinkcolor" val="tx"/>
                    </a:ext>
                  </a:extLst>
                </a:hlinkClick>
              </a:rPr>
              <a:t>Professional Services </a:t>
            </a:r>
            <a:r>
              <a:rPr lang="zh-CN" altLang="en-US" sz="1600" b="0" i="0" u="sng" dirty="0">
                <a:effectLst/>
                <a:latin typeface="Helvetica" panose="020B0604020202020204" pitchFamily="34" charset="0"/>
                <a:hlinkClick r:id="rId4">
                  <a:extLst>
                    <a:ext uri="{A12FA001-AC4F-418D-AE19-62706E023703}">
                      <ahyp:hlinkClr xmlns:ahyp="http://schemas.microsoft.com/office/drawing/2018/hyperlinkcolor" val="tx"/>
                    </a:ext>
                  </a:extLst>
                </a:hlinkClick>
              </a:rPr>
              <a:t>产品页面</a:t>
            </a:r>
            <a:r>
              <a:rPr lang="zh-CN" altLang="en-US" sz="1600" b="0" i="0" dirty="0">
                <a:effectLst/>
                <a:latin typeface="Helvetica" panose="020B0604020202020204" pitchFamily="34" charset="0"/>
              </a:rPr>
              <a:t>。 </a:t>
            </a:r>
            <a:endParaRPr lang="en-US" altLang="zh-CN" sz="1600" b="0" i="0" dirty="0">
              <a:effectLst/>
              <a:latin typeface="Helvetica" panose="020B0604020202020204" pitchFamily="34" charset="0"/>
            </a:endParaRPr>
          </a:p>
          <a:p>
            <a:pPr algn="l"/>
            <a:endParaRPr lang="en-US" altLang="zh-CN" sz="1600" dirty="0">
              <a:solidFill>
                <a:srgbClr val="2E3C4E"/>
              </a:solidFill>
              <a:latin typeface="Helvetica" panose="020B0604020202020204" pitchFamily="34" charset="0"/>
            </a:endParaRPr>
          </a:p>
          <a:p>
            <a:pPr algn="l"/>
            <a:r>
              <a:rPr lang="en-US" altLang="zh-CN" sz="1600" b="0" i="0" dirty="0">
                <a:solidFill>
                  <a:srgbClr val="2E3C4E"/>
                </a:solidFill>
                <a:effectLst/>
                <a:latin typeface="Helvetica" panose="020B0604020202020204" pitchFamily="34" charset="0"/>
                <a:hlinkClick r:id="rId5"/>
              </a:rPr>
              <a:t>https://www.amazonaws.cn/new/2025/amazon-web-services-marketplace-china-launches-sslv2-for-professional-services-products/</a:t>
            </a:r>
            <a:endParaRPr lang="en-US" altLang="zh-CN" sz="1600" b="0" i="0" dirty="0">
              <a:solidFill>
                <a:srgbClr val="2E3C4E"/>
              </a:solidFill>
              <a:effectLst/>
              <a:latin typeface="Helvetica" panose="020B0604020202020204" pitchFamily="34" charset="0"/>
            </a:endParaRPr>
          </a:p>
          <a:p>
            <a:pPr algn="l"/>
            <a:endParaRPr lang="zh-CN" altLang="en-US" sz="1600" b="0" i="0" dirty="0">
              <a:solidFill>
                <a:srgbClr val="2E3C4E"/>
              </a:solidFill>
              <a:effectLst/>
              <a:latin typeface="Helvetica" panose="020B0604020202020204" pitchFamily="34" charset="0"/>
            </a:endParaRPr>
          </a:p>
        </p:txBody>
      </p:sp>
      <p:sp>
        <p:nvSpPr>
          <p:cNvPr id="4" name="Rectangle 3"/>
          <p:cNvSpPr/>
          <p:nvPr/>
        </p:nvSpPr>
        <p:spPr>
          <a:xfrm>
            <a:off x="448055"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b="1" dirty="0"/>
          </a:p>
        </p:txBody>
      </p:sp>
      <p:sp>
        <p:nvSpPr>
          <p:cNvPr id="6" name="Rectangle 5"/>
          <p:cNvSpPr/>
          <p:nvPr/>
        </p:nvSpPr>
        <p:spPr>
          <a:xfrm>
            <a:off x="448056" y="1380744"/>
            <a:ext cx="11212567" cy="448056"/>
          </a:xfrm>
          <a:prstGeom prst="rect">
            <a:avLst/>
          </a:prstGeom>
          <a:solidFill>
            <a:srgbClr val="00A1C9"/>
          </a:solidFill>
          <a:ln>
            <a:solidFill>
              <a:srgbClr val="00A1C9"/>
            </a:solidFill>
          </a:ln>
        </p:spPr>
        <p:style>
          <a:lnRef idx="1">
            <a:schemeClr val="accent1"/>
          </a:lnRef>
          <a:fillRef idx="3">
            <a:schemeClr val="accent1"/>
          </a:fillRef>
          <a:effectRef idx="2">
            <a:schemeClr val="accent1"/>
          </a:effectRef>
          <a:fontRef idx="minor">
            <a:schemeClr val="lt1"/>
          </a:fontRef>
        </p:style>
        <p:txBody>
          <a:bodyPr rtlCol="0" anchor="ctr"/>
          <a:lstStyle/>
          <a:p>
            <a:r>
              <a:rPr lang="zh-CN" altLang="en-US" b="1" dirty="0"/>
              <a:t>亚马逊云科技 </a:t>
            </a:r>
            <a:r>
              <a:rPr lang="en-US" altLang="zh-CN" b="1" dirty="0"/>
              <a:t>Marketplace </a:t>
            </a:r>
            <a:r>
              <a:rPr lang="zh-CN" altLang="en-US" b="1" dirty="0"/>
              <a:t>中国推出适用于 </a:t>
            </a:r>
            <a:r>
              <a:rPr lang="en-US" altLang="zh-CN" b="1" dirty="0"/>
              <a:t>Professional Services </a:t>
            </a:r>
            <a:r>
              <a:rPr lang="zh-CN" altLang="en-US" b="1" dirty="0"/>
              <a:t>产品的 </a:t>
            </a:r>
            <a:r>
              <a:rPr lang="en-US" altLang="zh-CN" b="1" dirty="0"/>
              <a:t>SSLv2</a:t>
            </a:r>
            <a:r>
              <a:rPr lang="zh-CN" altLang="en-US" b="1" dirty="0"/>
              <a:t>（自助列表）</a:t>
            </a:r>
          </a:p>
        </p:txBody>
      </p:sp>
    </p:spTree>
    <p:extLst>
      <p:ext uri="{BB962C8B-B14F-4D97-AF65-F5344CB8AC3E}">
        <p14:creationId xmlns:p14="http://schemas.microsoft.com/office/powerpoint/2010/main" val="2649852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905E7A6-FBE8-4347-A879-17F4CEF15BC3}"/>
              </a:ext>
            </a:extLst>
          </p:cNvPr>
          <p:cNvPicPr>
            <a:picLocks noChangeAspect="1"/>
          </p:cNvPicPr>
          <p:nvPr/>
        </p:nvPicPr>
        <p:blipFill>
          <a:blip r:embed="rId2"/>
          <a:stretch>
            <a:fillRect/>
          </a:stretch>
        </p:blipFill>
        <p:spPr>
          <a:xfrm>
            <a:off x="2044700" y="939800"/>
            <a:ext cx="8102600" cy="4978400"/>
          </a:xfrm>
          <a:prstGeom prst="rect">
            <a:avLst/>
          </a:prstGeom>
        </p:spPr>
      </p:pic>
    </p:spTree>
    <p:extLst>
      <p:ext uri="{BB962C8B-B14F-4D97-AF65-F5344CB8AC3E}">
        <p14:creationId xmlns:p14="http://schemas.microsoft.com/office/powerpoint/2010/main" val="2339298728"/>
      </p:ext>
    </p:extLst>
  </p:cSld>
  <p:clrMapOvr>
    <a:masterClrMapping/>
  </p:clrMapOvr>
</p:sld>
</file>

<file path=ppt/theme/theme1.xml><?xml version="1.0" encoding="utf-8"?>
<a:theme xmlns:a="http://schemas.openxmlformats.org/drawingml/2006/main" name="AGT Main Theme">
  <a:themeElements>
    <a:clrScheme name="自定义 1">
      <a:dk1>
        <a:srgbClr val="000000"/>
      </a:dk1>
      <a:lt1>
        <a:srgbClr val="FFFFFF"/>
      </a:lt1>
      <a:dk2>
        <a:srgbClr val="000000"/>
      </a:dk2>
      <a:lt2>
        <a:srgbClr val="000000"/>
      </a:lt2>
      <a:accent1>
        <a:srgbClr val="FD9827"/>
      </a:accent1>
      <a:accent2>
        <a:srgbClr val="FC3B89"/>
      </a:accent2>
      <a:accent3>
        <a:srgbClr val="23CBFC"/>
      </a:accent3>
      <a:accent4>
        <a:srgbClr val="1F3EBE"/>
      </a:accent4>
      <a:accent5>
        <a:srgbClr val="6444A2"/>
      </a:accent5>
      <a:accent6>
        <a:srgbClr val="FD9827"/>
      </a:accent6>
      <a:hlink>
        <a:srgbClr val="FD9827"/>
      </a:hlink>
      <a:folHlink>
        <a:srgbClr val="FD9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98634</TotalTime>
  <Words>3213</Words>
  <Application>Microsoft Office PowerPoint</Application>
  <PresentationFormat>Widescreen</PresentationFormat>
  <Paragraphs>218</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Amazon Ember Regular</vt:lpstr>
      <vt:lpstr>Microsoft YaHei</vt:lpstr>
      <vt:lpstr>Arial</vt:lpstr>
      <vt:lpstr>Calibri</vt:lpstr>
      <vt:lpstr>Helvetica</vt:lpstr>
      <vt:lpstr>AGT Main Theme</vt:lpstr>
      <vt:lpstr>PowerPoint Presentation</vt:lpstr>
      <vt:lpstr>新功能新服务目录</vt:lpstr>
      <vt:lpstr>新功能新服务目录</vt:lpstr>
      <vt:lpstr>新服务／新功能</vt:lpstr>
      <vt:lpstr>新功能新服务目录</vt:lpstr>
      <vt:lpstr>新服务／新功能</vt:lpstr>
      <vt:lpstr>新功能新服务目录</vt:lpstr>
      <vt:lpstr>新服务／新功能</vt:lpstr>
      <vt:lpstr>新功能新服务目录</vt:lpstr>
      <vt:lpstr>新服务／新功能</vt:lpstr>
      <vt:lpstr>新功能新服务目录</vt:lpstr>
      <vt:lpstr>新服务／新功能</vt:lpstr>
      <vt:lpstr>新功能新服务目录</vt:lpstr>
      <vt:lpstr>新服务／新功能</vt:lpstr>
      <vt:lpstr>新功能新服务目录</vt:lpstr>
      <vt:lpstr>新功能新服务目录</vt:lpstr>
      <vt:lpstr>新服务／新功能</vt:lpstr>
      <vt:lpstr>新功能新服务目录</vt:lpstr>
      <vt:lpstr>新服务／新功能</vt:lpstr>
      <vt:lpstr>新功能新服务目录</vt:lpstr>
      <vt:lpstr>新服务／新功能</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Yuan</dc:creator>
  <cp:lastModifiedBy>Neil</cp:lastModifiedBy>
  <cp:revision>1025</cp:revision>
  <cp:lastPrinted>2019-07-07T09:17:51Z</cp:lastPrinted>
  <dcterms:modified xsi:type="dcterms:W3CDTF">2026-04-22T03:20:38Z</dcterms:modified>
</cp:coreProperties>
</file>