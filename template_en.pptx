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57" r:id="rId1"/>
  </p:sldMasterIdLst>
  <p:notesMasterIdLst>
    <p:notesMasterId r:id="rId23"/>
  </p:notesMasterIdLst>
  <p:sldIdLst>
    <p:sldId id="256" r:id="rId2"/>
    <p:sldId id="1346" r:id="rId3"/>
    <p:sldId id="1347" r:id="rId4"/>
    <p:sldId id="1740" r:id="rId5"/>
    <p:sldId id="1348" r:id="rId6"/>
    <p:sldId id="1704" r:id="rId7"/>
    <p:sldId id="1349" r:id="rId8"/>
    <p:sldId id="1709" r:id="rId9"/>
    <p:sldId id="1350" r:id="rId10"/>
    <p:sldId id="1706" r:id="rId11"/>
    <p:sldId id="1351" r:id="rId12"/>
    <p:sldId id="1703" r:id="rId13"/>
    <p:sldId id="1352" r:id="rId14"/>
    <p:sldId id="1715" r:id="rId15"/>
    <p:sldId id="1354" r:id="rId16"/>
    <p:sldId id="1700" r:id="rId17"/>
    <p:sldId id="1724" r:id="rId18"/>
    <p:sldId id="1725" r:id="rId19"/>
    <p:sldId id="1736" r:id="rId20"/>
    <p:sldId id="1738" r:id="rId21"/>
    <p:sldId id="1040"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56">
          <p15:clr>
            <a:srgbClr val="A4A3A4"/>
          </p15:clr>
        </p15:guide>
        <p15:guide id="2" pos="381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uyun Xi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C41"/>
    <a:srgbClr val="00A1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13" autoAdjust="0"/>
    <p:restoredTop sz="95033" autoAdjust="0"/>
  </p:normalViewPr>
  <p:slideViewPr>
    <p:cSldViewPr snapToGrid="0">
      <p:cViewPr varScale="1">
        <p:scale>
          <a:sx n="78" d="100"/>
          <a:sy n="78" d="100"/>
        </p:scale>
        <p:origin x="840" y="43"/>
      </p:cViewPr>
      <p:guideLst>
        <p:guide orient="horz" pos="2256"/>
        <p:guide pos="3816"/>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11219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3" name="Google Shape;5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1614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38799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84481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7655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2819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6892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43410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5019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61428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0525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2703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resentation Title" userDrawn="1">
  <p:cSld name="Presentation Title">
    <p:spTree>
      <p:nvGrpSpPr>
        <p:cNvPr id="1" name="Shape 11"/>
        <p:cNvGrpSpPr/>
        <p:nvPr/>
      </p:nvGrpSpPr>
      <p:grpSpPr>
        <a:xfrm>
          <a:off x="0" y="0"/>
          <a:ext cx="0" cy="0"/>
          <a:chOff x="0" y="0"/>
          <a:chExt cx="0" cy="0"/>
        </a:xfrm>
      </p:grpSpPr>
      <p:sp>
        <p:nvSpPr>
          <p:cNvPr id="13" name="Google Shape;13;p2"/>
          <p:cNvSpPr/>
          <p:nvPr/>
        </p:nvSpPr>
        <p:spPr>
          <a:xfrm>
            <a:off x="8142308" y="-1096"/>
            <a:ext cx="5067299" cy="6859096"/>
          </a:xfrm>
          <a:prstGeom prst="rect">
            <a:avLst/>
          </a:prstGeom>
          <a:gradFill>
            <a:gsLst>
              <a:gs pos="0">
                <a:srgbClr val="FF9900">
                  <a:alpha val="0"/>
                </a:srgbClr>
              </a:gs>
              <a:gs pos="30000">
                <a:srgbClr val="FF9900">
                  <a:alpha val="0"/>
                </a:srgbClr>
              </a:gs>
              <a:gs pos="100000">
                <a:srgbClr val="FF9900"/>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4" name="Google Shape;14;p2"/>
          <p:cNvPicPr preferRelativeResize="0"/>
          <p:nvPr/>
        </p:nvPicPr>
        <p:blipFill rotWithShape="1">
          <a:blip r:embed="rId2">
            <a:alphaModFix/>
          </a:blip>
          <a:srcRect l="17964" t="8418" r="2710" b="7957"/>
          <a:stretch/>
        </p:blipFill>
        <p:spPr>
          <a:xfrm>
            <a:off x="4112930" y="-1096"/>
            <a:ext cx="10404671" cy="6858000"/>
          </a:xfrm>
          <a:prstGeom prst="rect">
            <a:avLst/>
          </a:prstGeom>
          <a:noFill/>
          <a:ln>
            <a:noFill/>
          </a:ln>
        </p:spPr>
      </p:pic>
      <p:sp>
        <p:nvSpPr>
          <p:cNvPr id="15" name="Google Shape;15;p2"/>
          <p:cNvSpPr txBox="1">
            <a:spLocks noGrp="1"/>
          </p:cNvSpPr>
          <p:nvPr>
            <p:ph type="body" idx="1"/>
          </p:nvPr>
        </p:nvSpPr>
        <p:spPr>
          <a:xfrm>
            <a:off x="355978" y="1878526"/>
            <a:ext cx="5562601" cy="168650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1000"/>
              </a:spcBef>
              <a:spcAft>
                <a:spcPts val="0"/>
              </a:spcAft>
              <a:buClr>
                <a:schemeClr val="lt1"/>
              </a:buClr>
              <a:buSzPts val="5400"/>
              <a:buFont typeface="Arial"/>
              <a:buNone/>
              <a:defRPr sz="5400" b="0" i="0" u="none" strike="noStrike" cap="none">
                <a:solidFill>
                  <a:schemeClr val="lt1"/>
                </a:solidFill>
                <a:latin typeface="Arial"/>
                <a:ea typeface="Arial"/>
                <a:cs typeface="Arial"/>
                <a:sym typeface="Arial"/>
              </a:defRPr>
            </a:lvl1pPr>
            <a:lvl2pPr marL="914400" marR="0" lvl="1"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10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6" name="Google Shape;16;p2"/>
          <p:cNvSpPr txBox="1">
            <a:spLocks noGrp="1"/>
          </p:cNvSpPr>
          <p:nvPr>
            <p:ph type="body" idx="2"/>
          </p:nvPr>
        </p:nvSpPr>
        <p:spPr>
          <a:xfrm>
            <a:off x="355979" y="3870292"/>
            <a:ext cx="5562600" cy="3334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10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10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7" name="Google Shape;57;p11">
            <a:extLst>
              <a:ext uri="{FF2B5EF4-FFF2-40B4-BE49-F238E27FC236}">
                <a16:creationId xmlns:a16="http://schemas.microsoft.com/office/drawing/2014/main" id="{07C439E1-556B-1844-8B3F-94CD6BAEFB0B}"/>
              </a:ext>
            </a:extLst>
          </p:cNvPr>
          <p:cNvSpPr txBox="1">
            <a:spLocks noGrp="1"/>
          </p:cNvSpPr>
          <p:nvPr>
            <p:ph type="body" idx="3"/>
          </p:nvPr>
        </p:nvSpPr>
        <p:spPr>
          <a:xfrm>
            <a:off x="355979" y="4885522"/>
            <a:ext cx="5562600" cy="333466"/>
          </a:xfrm>
          <a:prstGeom prst="rect">
            <a:avLst/>
          </a:prstGeom>
          <a:noFill/>
          <a:ln>
            <a:noFill/>
          </a:ln>
        </p:spPr>
        <p:txBody>
          <a:bodyPr spcFirstLastPara="1" wrap="square" lIns="91425" tIns="45700" rIns="91425" bIns="45700" anchor="t" anchorCtr="0">
            <a:noAutofit/>
          </a:bodyPr>
          <a:lstStyle>
            <a:lvl1pPr>
              <a:defRPr>
                <a:solidFill>
                  <a:schemeClr val="bg1"/>
                </a:solidFill>
              </a:defRPr>
            </a:lvl1pPr>
          </a:lstStyle>
          <a:p>
            <a:pPr marL="0" lvl="0" indent="0" algn="l" rtl="0">
              <a:lnSpc>
                <a:spcPct val="80000"/>
              </a:lnSpc>
              <a:spcBef>
                <a:spcPts val="0"/>
              </a:spcBef>
              <a:spcAft>
                <a:spcPts val="0"/>
              </a:spcAft>
              <a:buClr>
                <a:schemeClr val="lt1"/>
              </a:buClr>
              <a:buSzPts val="1850"/>
              <a:buNone/>
            </a:pPr>
            <a:r>
              <a:rPr lang="en-US" sz="1850" dirty="0"/>
              <a:t>Wang</a:t>
            </a:r>
            <a:r>
              <a:rPr lang="zh-CN" altLang="en-US" sz="1850" dirty="0"/>
              <a:t> </a:t>
            </a:r>
            <a:r>
              <a:rPr lang="en-US" altLang="zh-CN" sz="1850" dirty="0"/>
              <a:t>Jidong</a:t>
            </a:r>
          </a:p>
          <a:p>
            <a:pPr marL="0" lvl="0" indent="0" algn="l" rtl="0">
              <a:lnSpc>
                <a:spcPct val="80000"/>
              </a:lnSpc>
              <a:spcBef>
                <a:spcPts val="0"/>
              </a:spcBef>
              <a:spcAft>
                <a:spcPts val="0"/>
              </a:spcAft>
              <a:buClr>
                <a:schemeClr val="lt1"/>
              </a:buClr>
              <a:buSzPts val="1850"/>
              <a:buNone/>
            </a:pPr>
            <a:endParaRPr sz="18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3CEF0-F579-D84E-8DD4-F74B06154EA4}"/>
              </a:ext>
            </a:extLst>
          </p:cNvPr>
          <p:cNvSpPr>
            <a:spLocks noGrp="1"/>
          </p:cNvSpPr>
          <p:nvPr>
            <p:ph type="title"/>
          </p:nvPr>
        </p:nvSpPr>
        <p:spPr>
          <a:xfrm>
            <a:off x="373505" y="365126"/>
            <a:ext cx="10515600" cy="804108"/>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9436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9052" y="153249"/>
            <a:ext cx="10940405" cy="727655"/>
          </a:xfrm>
        </p:spPr>
        <p:txBody>
          <a:bodyPr/>
          <a:lstStyle>
            <a:lvl1pPr>
              <a:defRPr>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0" indent="0">
              <a:buNone/>
              <a:defRPr>
                <a:solidFill>
                  <a:schemeClr val="bg1"/>
                </a:solidFill>
              </a:defRPr>
            </a:lvl1pPr>
            <a:lvl2pPr marL="990575" indent="-380990">
              <a:buFont typeface="Arial"/>
              <a:buChar char="•"/>
              <a:defRPr>
                <a:solidFill>
                  <a:schemeClr val="bg1"/>
                </a:solidFill>
              </a:defRPr>
            </a:lvl2pPr>
            <a:lvl3pPr marL="1523962" indent="-304792">
              <a:buFont typeface="Arial"/>
              <a:buChar cha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279761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5">
            <a:alphaModFix/>
          </a:blip>
          <a:srcRect/>
          <a:stretch/>
        </p:blipFill>
        <p:spPr>
          <a:xfrm>
            <a:off x="12496800" y="0"/>
            <a:ext cx="353761" cy="1447800"/>
          </a:xfrm>
          <a:prstGeom prst="rect">
            <a:avLst/>
          </a:prstGeom>
          <a:noFill/>
          <a:ln>
            <a:noFill/>
          </a:ln>
        </p:spPr>
      </p:pic>
      <p:sp>
        <p:nvSpPr>
          <p:cNvPr id="2" name="Title Placeholder 1">
            <a:extLst>
              <a:ext uri="{FF2B5EF4-FFF2-40B4-BE49-F238E27FC236}">
                <a16:creationId xmlns:a16="http://schemas.microsoft.com/office/drawing/2014/main" id="{406ADAE1-FC85-3047-8A89-4C264C27B286}"/>
              </a:ext>
            </a:extLst>
          </p:cNvPr>
          <p:cNvSpPr>
            <a:spLocks noGrp="1"/>
          </p:cNvSpPr>
          <p:nvPr>
            <p:ph type="title"/>
          </p:nvPr>
        </p:nvSpPr>
        <p:spPr>
          <a:xfrm>
            <a:off x="313544" y="365125"/>
            <a:ext cx="10515600" cy="894049"/>
          </a:xfrm>
          <a:prstGeom prst="rect">
            <a:avLst/>
          </a:prstGeom>
        </p:spPr>
        <p:txBody>
          <a:bodyPr vert="horz" lIns="91440" tIns="45720" rIns="91440" bIns="45720" rtlCol="0" anchor="ctr">
            <a:normAutofit/>
          </a:bodyPr>
          <a:lstStyle/>
          <a:p>
            <a:r>
              <a:rPr lang="en-US"/>
              <a:t>Click to edit Master title style</a:t>
            </a:r>
          </a:p>
        </p:txBody>
      </p:sp>
      <p:pic>
        <p:nvPicPr>
          <p:cNvPr id="5" name="图片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94212" y="6280517"/>
            <a:ext cx="1090205" cy="385933"/>
          </a:xfrm>
          <a:prstGeom prst="rect">
            <a:avLst/>
          </a:prstGeom>
          <a:ln>
            <a:noFill/>
          </a:ln>
          <a:effectLst>
            <a:outerShdw blurRad="292100" dist="139700" dir="2700000" algn="tl" rotWithShape="0">
              <a:srgbClr val="333333">
                <a:alpha val="65000"/>
              </a:srgbClr>
            </a:outerShdw>
          </a:effectLst>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0" i="0" u="none" strike="noStrike" cap="none">
          <a:solidFill>
            <a:schemeClr val="bg1"/>
          </a:solidFill>
          <a:latin typeface="Microsoft YaHei" panose="020B0503020204020204" pitchFamily="34" charset="-122"/>
          <a:ea typeface="Microsoft YaHei" panose="020B0503020204020204" pitchFamily="34"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336">
          <p15:clr>
            <a:srgbClr val="F26B43"/>
          </p15:clr>
        </p15:guide>
        <p15:guide id="3" pos="7344">
          <p15:clr>
            <a:srgbClr val="F26B43"/>
          </p15:clr>
        </p15:guide>
        <p15:guide id="4" orient="horz" pos="3696">
          <p15:clr>
            <a:srgbClr val="F26B43"/>
          </p15:clr>
        </p15:guide>
        <p15:guide id="5" orient="horz" pos="2160">
          <p15:clr>
            <a:srgbClr val="F26B43"/>
          </p15:clr>
        </p15:guide>
        <p15:guide id="6" orient="horz" pos="336">
          <p15:clr>
            <a:srgbClr val="F26B43"/>
          </p15:clr>
        </p15:guide>
        <p15:guide id="7" orient="horz" pos="1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amazonaws.cn/kinesisvideostreams/latest/dg/tiered-storage.html" TargetMode="External"/><Relationship Id="rId2" Type="http://schemas.openxmlformats.org/officeDocument/2006/relationships/hyperlink" Target="https://www.amazonaws.cn/en/kinesis/video-streams/" TargetMode="External"/><Relationship Id="rId1" Type="http://schemas.openxmlformats.org/officeDocument/2006/relationships/slideLayout" Target="../slideLayouts/slideLayout3.xml"/><Relationship Id="rId4" Type="http://schemas.openxmlformats.org/officeDocument/2006/relationships/hyperlink" Target="https://www.amazonaws.cn/en/new/2025/amazon-kinesis-video-streams-supports-a-new-cost-effective-warm-storage-tie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amazonaws.cn/en/s3/features/tables/" TargetMode="External"/><Relationship Id="rId2" Type="http://schemas.openxmlformats.org/officeDocument/2006/relationships/hyperlink" Target="https://www.amazonaws.cn/en/s3/pricing/" TargetMode="External"/><Relationship Id="rId1" Type="http://schemas.openxmlformats.org/officeDocument/2006/relationships/slideLayout" Target="../slideLayouts/slideLayout3.xml"/><Relationship Id="rId5" Type="http://schemas.openxmlformats.org/officeDocument/2006/relationships/hyperlink" Target="https://www.amazonaws.cn/en/new/2025/announcing-amazon-s3-tables/" TargetMode="External"/><Relationship Id="rId4" Type="http://schemas.openxmlformats.org/officeDocument/2006/relationships/hyperlink" Target="https://docs.amazonaws.cn/AmazonS3/latest/userguide/s3-tables.html"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amazonaws.cn/ecr/" TargetMode="External"/><Relationship Id="rId2" Type="http://schemas.openxmlformats.org/officeDocument/2006/relationships/hyperlink" Target="https://docs.amazonaws.cn/AmazonECR/latest/userguide/repository-creation-templates-create.html" TargetMode="External"/><Relationship Id="rId1" Type="http://schemas.openxmlformats.org/officeDocument/2006/relationships/slideLayout" Target="../slideLayouts/slideLayout3.xml"/><Relationship Id="rId5" Type="http://schemas.openxmlformats.org/officeDocument/2006/relationships/hyperlink" Target="https://www.amazonaws.cn/en/new/2025/amazon-ecr-supports-creating-repositories-on-push/" TargetMode="External"/><Relationship Id="rId4" Type="http://schemas.openxmlformats.org/officeDocument/2006/relationships/hyperlink" Target="https://docs.amazonaws.cn/AmazonECR/latest/userguide/what-is-ecr.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amazonaws.cn/en/new/2025/amazon-rds-enhances-observability-for-snapshot-exports-to-amazon-s3/" TargetMode="External"/><Relationship Id="rId2" Type="http://schemas.openxmlformats.org/officeDocument/2006/relationships/hyperlink" Target="https://docs.amazonaws.cn/en_us/AmazonRDS/latest/UserGuide/USER_Events.Messages.htm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mazonaws.cn/en/new/2025/amazon-guardduty-extended-threat-detection-supports-amazon-ec2-and-amazon-ecs/" TargetMode="External"/><Relationship Id="rId2" Type="http://schemas.openxmlformats.org/officeDocument/2006/relationships/hyperlink" Target="https://docs.amazonaws.cn/en_us/guardduty/latest/ug/what-is-guardduty.htm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amazonaws.cn/organizations/latest/APIReference/" TargetMode="External"/><Relationship Id="rId2" Type="http://schemas.openxmlformats.org/officeDocument/2006/relationships/hyperlink" Target="https://docs.amazonaws.cn/organizations/latest/userguide/orgs_manage_accounts_invites.html" TargetMode="External"/><Relationship Id="rId1" Type="http://schemas.openxmlformats.org/officeDocument/2006/relationships/slideLayout" Target="../slideLayouts/slideLayout3.xml"/><Relationship Id="rId4" Type="http://schemas.openxmlformats.org/officeDocument/2006/relationships/hyperlink" Target="https://www.amazonaws.cn/en/new/2025/amazon-organizations-introduces-direct-account-transfers-between-organization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amazonaws.cn/en/cloudwatch/pricing/" TargetMode="External"/><Relationship Id="rId2" Type="http://schemas.openxmlformats.org/officeDocument/2006/relationships/hyperlink" Target="https://docs.amazonaws.cn/en_us/Route53/latest/DeveloperGuide/monitoring-resolver-with-cloudwatch.html" TargetMode="External"/><Relationship Id="rId1" Type="http://schemas.openxmlformats.org/officeDocument/2006/relationships/slideLayout" Target="../slideLayouts/slideLayout3.xml"/><Relationship Id="rId5" Type="http://schemas.openxmlformats.org/officeDocument/2006/relationships/hyperlink" Target="https://www.amazonaws.cn/en/new/2025/amazon-route-53-launches-detailed-metrics-for-resolver-endpoints/" TargetMode="External"/><Relationship Id="rId4" Type="http://schemas.openxmlformats.org/officeDocument/2006/relationships/hyperlink" Target="https://www.amazonaws.cn/en/route53/pricing/"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amazonaws.cn/en/new/2025/amazon-iot-offers-event-based-logging-to-help-optimize-observability-costs/" TargetMode="External"/><Relationship Id="rId2" Type="http://schemas.openxmlformats.org/officeDocument/2006/relationships/hyperlink" Target="https://docs.amazonaws.cn/en_us/iot/latest/developerguide/configure-logging.html"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amazonaws.cn/en/new/2025/fapiao-management-feature-is-available-in-amazon-web-services-marketplace-china/"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55979" y="1600230"/>
            <a:ext cx="8416066" cy="1220608"/>
          </a:xfrm>
          <a:prstGeom prst="rect">
            <a:avLst/>
          </a:prstGeom>
          <a:noFill/>
          <a:ln>
            <a:noFill/>
          </a:ln>
        </p:spPr>
        <p:txBody>
          <a:bodyPr spcFirstLastPara="1" wrap="square" lIns="91425" tIns="45700" rIns="91425" bIns="45700" anchor="t" anchorCtr="0">
            <a:noAutofit/>
          </a:bodyPr>
          <a:lstStyle/>
          <a:p>
            <a:pPr marL="0" indent="0" defTabSz="457200">
              <a:spcBef>
                <a:spcPct val="20000"/>
              </a:spcBef>
              <a:buClrTx/>
              <a:buSzTx/>
            </a:pPr>
            <a:r>
              <a:rPr lang="en-US" sz="4000" b="1" kern="1200" dirty="0">
                <a:solidFill>
                  <a:srgbClr val="FFFFFF"/>
                </a:solidFill>
                <a:latin typeface="Amazon Ember Regular" charset="0"/>
                <a:ea typeface="黑体" panose="02010609060101010101" pitchFamily="49" charset="-122"/>
                <a:cs typeface="Amazon Ember Regular" charset="0"/>
              </a:rPr>
              <a:t>AWS</a:t>
            </a:r>
            <a:r>
              <a:rPr lang="zh-CN" altLang="en-US" sz="4000" b="1" kern="1200" dirty="0">
                <a:solidFill>
                  <a:srgbClr val="FFFFFF"/>
                </a:solidFill>
                <a:latin typeface="Amazon Ember Regular" charset="0"/>
                <a:ea typeface="黑体" panose="02010609060101010101" pitchFamily="49" charset="-122"/>
                <a:cs typeface="Amazon Ember Regular" charset="0"/>
              </a:rPr>
              <a:t> </a:t>
            </a:r>
            <a:r>
              <a:rPr lang="en-US" altLang="zh-CN" sz="4000" b="1" kern="1200" dirty="0">
                <a:solidFill>
                  <a:srgbClr val="FFFFFF"/>
                </a:solidFill>
                <a:latin typeface="Amazon Ember Regular" charset="0"/>
                <a:ea typeface="黑体" panose="02010609060101010101" pitchFamily="49" charset="-122"/>
                <a:cs typeface="Amazon Ember Regular" charset="0"/>
              </a:rPr>
              <a:t>Service what’s New</a:t>
            </a:r>
            <a:endParaRPr lang="en-US" sz="4000" b="1" kern="1200" dirty="0">
              <a:solidFill>
                <a:srgbClr val="FFFFFF"/>
              </a:solidFill>
              <a:latin typeface="Amazon Ember Regular" charset="0"/>
              <a:ea typeface="黑体" panose="02010609060101010101" pitchFamily="49" charset="-122"/>
              <a:cs typeface="Amazon Ember Regular" charset="0"/>
            </a:endParaRPr>
          </a:p>
          <a:p>
            <a:pPr marL="0" lvl="0" indent="0" defTabSz="457200">
              <a:spcBef>
                <a:spcPct val="20000"/>
              </a:spcBef>
              <a:buClrTx/>
              <a:buSzTx/>
            </a:pPr>
            <a:endParaRPr lang="en-US" altLang="zh-CN" sz="4000" b="1" kern="1200" dirty="0">
              <a:solidFill>
                <a:srgbClr val="FFFFFF"/>
              </a:solidFill>
              <a:latin typeface="Microsoft YaHei" panose="020B0503020204020204" pitchFamily="34" charset="-122"/>
              <a:ea typeface="Microsoft YaHei" panose="020B0503020204020204" pitchFamily="34" charset="-122"/>
              <a:cs typeface="Amazon Ember Regular" charset="0"/>
            </a:endParaRPr>
          </a:p>
        </p:txBody>
      </p:sp>
      <p:sp>
        <p:nvSpPr>
          <p:cNvPr id="57" name="Google Shape;57;p11"/>
          <p:cNvSpPr txBox="1">
            <a:spLocks noGrp="1"/>
          </p:cNvSpPr>
          <p:nvPr>
            <p:ph type="body" idx="4294967295"/>
          </p:nvPr>
        </p:nvSpPr>
        <p:spPr>
          <a:xfrm>
            <a:off x="355979" y="4933673"/>
            <a:ext cx="5562600" cy="333466"/>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lt1"/>
              </a:buClr>
              <a:buSzPts val="1850"/>
              <a:buNone/>
            </a:pPr>
            <a:r>
              <a:rPr lang="en-US" sz="1850" dirty="0">
                <a:solidFill>
                  <a:schemeClr val="bg1"/>
                </a:solidFill>
              </a:rPr>
              <a:t>XXX</a:t>
            </a:r>
            <a:endParaRPr sz="1850" dirty="0">
              <a:solidFill>
                <a:schemeClr val="bg1"/>
              </a:solidFill>
            </a:endParaRPr>
          </a:p>
        </p:txBody>
      </p:sp>
      <p:sp>
        <p:nvSpPr>
          <p:cNvPr id="5" name="Text Placeholder 4">
            <a:extLst>
              <a:ext uri="{FF2B5EF4-FFF2-40B4-BE49-F238E27FC236}">
                <a16:creationId xmlns:a16="http://schemas.microsoft.com/office/drawing/2014/main" id="{78D47FB5-0161-894C-BE56-B9DB1A4B5707}"/>
              </a:ext>
            </a:extLst>
          </p:cNvPr>
          <p:cNvSpPr txBox="1">
            <a:spLocks/>
          </p:cNvSpPr>
          <p:nvPr/>
        </p:nvSpPr>
        <p:spPr>
          <a:xfrm>
            <a:off x="355979" y="3042905"/>
            <a:ext cx="6041582" cy="487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CN" dirty="0">
                <a:solidFill>
                  <a:schemeClr val="bg1">
                    <a:lumMod val="85000"/>
                  </a:schemeClr>
                </a:solidFill>
              </a:rPr>
              <a:t>Report Period </a:t>
            </a:r>
            <a:r>
              <a:rPr lang="zh-CN" altLang="en-US" dirty="0">
                <a:solidFill>
                  <a:schemeClr val="bg1">
                    <a:lumMod val="85000"/>
                  </a:schemeClr>
                </a:solidFill>
              </a:rPr>
              <a:t>：</a:t>
            </a:r>
            <a:r>
              <a:rPr lang="en-US" altLang="zh-CN" dirty="0">
                <a:solidFill>
                  <a:schemeClr val="bg1">
                    <a:lumMod val="85000"/>
                  </a:schemeClr>
                </a:solidFill>
              </a:rPr>
              <a:t>2025.12</a:t>
            </a:r>
            <a:endParaRPr lang="en-US" dirty="0">
              <a:solidFill>
                <a:schemeClr val="bg1">
                  <a:lumMod val="85000"/>
                </a:schemeClr>
              </a:solidFill>
            </a:endParaRPr>
          </a:p>
        </p:txBody>
      </p:sp>
      <p:sp>
        <p:nvSpPr>
          <p:cNvPr id="6" name="Google Shape;57;p11">
            <a:extLst>
              <a:ext uri="{FF2B5EF4-FFF2-40B4-BE49-F238E27FC236}">
                <a16:creationId xmlns:a16="http://schemas.microsoft.com/office/drawing/2014/main" id="{4306BDA8-419B-B34D-853A-CC313D5026FB}"/>
              </a:ext>
            </a:extLst>
          </p:cNvPr>
          <p:cNvSpPr txBox="1">
            <a:spLocks/>
          </p:cNvSpPr>
          <p:nvPr/>
        </p:nvSpPr>
        <p:spPr>
          <a:xfrm>
            <a:off x="355979" y="5277917"/>
            <a:ext cx="5562600" cy="3334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10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10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a:lnSpc>
                <a:spcPct val="80000"/>
              </a:lnSpc>
              <a:spcBef>
                <a:spcPts val="0"/>
              </a:spcBef>
              <a:buSzPts val="1850"/>
            </a:pPr>
            <a:r>
              <a:rPr lang="en-US" sz="1600" dirty="0">
                <a:solidFill>
                  <a:schemeClr val="bg1"/>
                </a:solidFill>
              </a:rPr>
              <a:t>Technical</a:t>
            </a:r>
            <a:r>
              <a:rPr lang="zh-CN" altLang="en-US" sz="1600" dirty="0">
                <a:solidFill>
                  <a:schemeClr val="bg1"/>
                </a:solidFill>
              </a:rPr>
              <a:t> </a:t>
            </a:r>
            <a:r>
              <a:rPr lang="en-US" altLang="zh-CN" sz="1600" dirty="0">
                <a:solidFill>
                  <a:schemeClr val="bg1"/>
                </a:solidFill>
              </a:rPr>
              <a:t>Account</a:t>
            </a:r>
            <a:r>
              <a:rPr lang="zh-CN" altLang="en-US" sz="1600" dirty="0">
                <a:solidFill>
                  <a:schemeClr val="bg1"/>
                </a:solidFill>
              </a:rPr>
              <a:t> </a:t>
            </a:r>
            <a:r>
              <a:rPr lang="en-US" altLang="zh-CN" sz="1600" dirty="0">
                <a:solidFill>
                  <a:schemeClr val="bg1"/>
                </a:solidFill>
              </a:rPr>
              <a:t>Manager</a:t>
            </a:r>
            <a:endParaRPr lang="en-US" sz="1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Application Integration</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3452168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3262325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16, 2025</a:t>
            </a:r>
          </a:p>
          <a:p>
            <a:pPr algn="l"/>
            <a:r>
              <a:rPr lang="en-US" altLang="zh-CN" b="0" i="0" dirty="0">
                <a:effectLst/>
                <a:latin typeface="+mn-lt"/>
              </a:rPr>
              <a:t>Amazon Web Services announces a new warm storage tier for </a:t>
            </a:r>
            <a:r>
              <a:rPr lang="en-US" altLang="zh-CN" b="0" i="0" u="sng" dirty="0">
                <a:effectLst/>
                <a:latin typeface="+mn-lt"/>
                <a:hlinkClick r:id="rId2">
                  <a:extLst>
                    <a:ext uri="{A12FA001-AC4F-418D-AE19-62706E023703}">
                      <ahyp:hlinkClr xmlns:ahyp="http://schemas.microsoft.com/office/drawing/2018/hyperlinkcolor" val="tx"/>
                    </a:ext>
                  </a:extLst>
                </a:hlinkClick>
              </a:rPr>
              <a:t>Amazon Kinesis Video Streams</a:t>
            </a:r>
            <a:r>
              <a:rPr lang="en-US" altLang="zh-CN" b="0" i="0" dirty="0">
                <a:effectLst/>
                <a:latin typeface="+mn-lt"/>
              </a:rPr>
              <a:t> (Amazon KVS), delivering cost-effective storage for extended media retention. The standard Amazon KVS storage tier, now designated as the hot tier, remains optimized for real-time data access and short-term storage. The new warm tier enables long-term media retention with sub-second access latency at reduced storage costs.</a:t>
            </a:r>
            <a:br>
              <a:rPr lang="en-US" altLang="zh-CN" b="0" i="0" dirty="0">
                <a:effectLst/>
                <a:latin typeface="+mn-lt"/>
              </a:rPr>
            </a:br>
            <a:br>
              <a:rPr lang="en-US" altLang="zh-CN" b="0" i="0" dirty="0">
                <a:effectLst/>
                <a:latin typeface="+mn-lt"/>
              </a:rPr>
            </a:br>
            <a:r>
              <a:rPr lang="en-US" altLang="zh-CN" b="0" i="0" dirty="0">
                <a:effectLst/>
                <a:latin typeface="+mn-lt"/>
              </a:rPr>
              <a:t>The warm storage tier enables developers of home security and enterprise video monitoring solutions to cost-effectively stream data from devices, cameras, and mobile phones while maintaining extended retention periods for video analytics and regulatory compliance. Moreover, developers now have the flexibility to configure fragment sizes based on their specific requirements — selecting smaller fragments for lower latency use cases or larger fragments to reduce ingestion costs. Both hot and warm storage tiers integrate seamlessly with Amazon </a:t>
            </a:r>
            <a:r>
              <a:rPr lang="en-US" altLang="zh-CN" b="0" i="0" dirty="0" err="1">
                <a:effectLst/>
                <a:latin typeface="+mn-lt"/>
              </a:rPr>
              <a:t>Rekognition</a:t>
            </a:r>
            <a:r>
              <a:rPr lang="en-US" altLang="zh-CN" b="0" i="0" dirty="0">
                <a:effectLst/>
                <a:latin typeface="+mn-lt"/>
              </a:rPr>
              <a:t> Video and Amazon </a:t>
            </a:r>
            <a:r>
              <a:rPr lang="en-US" altLang="zh-CN" b="0" i="0" dirty="0" err="1">
                <a:effectLst/>
                <a:latin typeface="+mn-lt"/>
              </a:rPr>
              <a:t>SageMaker</a:t>
            </a:r>
            <a:r>
              <a:rPr lang="en-US" altLang="zh-CN" b="0" i="0" dirty="0">
                <a:effectLst/>
                <a:latin typeface="+mn-lt"/>
              </a:rPr>
              <a:t>, enabling continuous data processing to support the creation of computer vision and video analytics applications.</a:t>
            </a:r>
            <a:br>
              <a:rPr lang="en-US" altLang="zh-CN" b="0" i="0" dirty="0">
                <a:effectLst/>
                <a:latin typeface="+mn-lt"/>
              </a:rPr>
            </a:br>
            <a:br>
              <a:rPr lang="en-US" altLang="zh-CN" b="0" i="0" dirty="0">
                <a:effectLst/>
                <a:latin typeface="+mn-lt"/>
              </a:rPr>
            </a:br>
            <a:r>
              <a:rPr lang="en-US" altLang="zh-CN" b="0" i="0" dirty="0">
                <a:effectLst/>
                <a:latin typeface="+mn-lt"/>
              </a:rPr>
              <a:t>Amazon Kinesis Video Streams with the new warm storage tier is available in all regions where Amazon Kinesis Video Streams is available, including the Amazon Web Services China (Beijing) region, operated by Sinnet.</a:t>
            </a:r>
            <a:br>
              <a:rPr lang="en-US" altLang="zh-CN" b="0" i="0" dirty="0">
                <a:effectLst/>
                <a:latin typeface="+mn-lt"/>
              </a:rPr>
            </a:br>
            <a:br>
              <a:rPr lang="en-US" altLang="zh-CN" b="0" i="0" dirty="0">
                <a:effectLst/>
                <a:latin typeface="+mn-lt"/>
              </a:rPr>
            </a:br>
            <a:r>
              <a:rPr lang="en-US" altLang="zh-CN" b="0" i="0" dirty="0">
                <a:effectLst/>
                <a:latin typeface="+mn-lt"/>
              </a:rPr>
              <a:t>To learn more, refer to the </a:t>
            </a:r>
            <a:r>
              <a:rPr lang="en-US" altLang="zh-CN" b="0" i="0" u="sng" dirty="0">
                <a:effectLst/>
                <a:latin typeface="+mn-lt"/>
                <a:hlinkClick r:id="rId3">
                  <a:extLst>
                    <a:ext uri="{A12FA001-AC4F-418D-AE19-62706E023703}">
                      <ahyp:hlinkClr xmlns:ahyp="http://schemas.microsoft.com/office/drawing/2018/hyperlinkcolor" val="tx"/>
                    </a:ext>
                  </a:extLst>
                </a:hlinkClick>
              </a:rPr>
              <a:t>getting started guide</a:t>
            </a:r>
            <a:r>
              <a:rPr lang="en-US" altLang="zh-CN" b="0" i="0" dirty="0">
                <a:effectLst/>
                <a:latin typeface="+mn-lt"/>
              </a:rPr>
              <a:t>.</a:t>
            </a:r>
          </a:p>
          <a:p>
            <a:pPr algn="l"/>
            <a:endParaRPr lang="en-US" altLang="zh-CN" dirty="0">
              <a:solidFill>
                <a:srgbClr val="2E3C4E"/>
              </a:solidFill>
              <a:latin typeface="+mn-lt"/>
            </a:endParaRPr>
          </a:p>
          <a:p>
            <a:pPr algn="l"/>
            <a:r>
              <a:rPr lang="en-US" altLang="zh-CN" b="0" i="0" dirty="0">
                <a:solidFill>
                  <a:srgbClr val="2E3C4E"/>
                </a:solidFill>
                <a:effectLst/>
                <a:latin typeface="+mn-lt"/>
                <a:hlinkClick r:id="rId4"/>
              </a:rPr>
              <a:t>https://www.amazonaws.cn/en/new/2025/amazon-kinesis-video-streams-supports-a-new-cost-effective-warm-storage-tier/</a:t>
            </a:r>
            <a:endParaRPr lang="en-US" altLang="zh-CN" b="0" i="0" dirty="0">
              <a:solidFill>
                <a:srgbClr val="2E3C4E"/>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Kinesis Video Streams now supports a new cost effective warm storage tier</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379752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rgbClr val="00B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2724719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18, 2025</a:t>
            </a:r>
          </a:p>
          <a:p>
            <a:pPr algn="l"/>
            <a:r>
              <a:rPr lang="en-US" altLang="zh-CN" b="0" i="0" dirty="0">
                <a:effectLst/>
                <a:latin typeface="+mn-lt"/>
              </a:rPr>
              <a:t>Amazon S3 Tables deliver the first cloud object store with built-in Apache Iceberg support, and the easiest way to store tabular data at scale. S3 Tables are specifically optimized for analytics workloads, resulting in faster query performance and up to 10x higher transactions per second compared to Iceberg tables stored in general purpose S3 buckets. With S3 Tables support for the Apache Iceberg standard, your tabular data can be easily queried by popular Amazon Web Services and third-party query engines. Additionally, S3 Tables are designed to perform continual table maintenance to automatically optimize query efficiency and storage cost over time, even as your data lake scales and evolves. The S3 Tables integration with Amazon Glue Data Catalog allows you to stream, query, and visualize data using Amazon Web Services analytics services such as Amazon Data Firehose, Athena, Redshift, EMR, and </a:t>
            </a:r>
            <a:r>
              <a:rPr lang="en-US" altLang="zh-CN" b="0" i="0" dirty="0" err="1">
                <a:effectLst/>
                <a:latin typeface="+mn-lt"/>
              </a:rPr>
              <a:t>QuickSight</a:t>
            </a:r>
            <a:r>
              <a:rPr lang="en-US" altLang="zh-CN" b="0" i="0" dirty="0">
                <a:effectLst/>
                <a:latin typeface="+mn-lt"/>
              </a:rPr>
              <a:t>.</a:t>
            </a:r>
          </a:p>
          <a:p>
            <a:pPr algn="l"/>
            <a:r>
              <a:rPr lang="en-US" altLang="zh-CN" b="0" i="0" dirty="0">
                <a:effectLst/>
                <a:latin typeface="+mn-lt"/>
              </a:rPr>
              <a:t>S3 Tables introduce table buckets, a bucket type that is purpose-built to store tabular data. With table buckets, you can quickly create tables and set up table-level permissions to manage access to your data lake. You can then load and query data in your tables with standard SQL and take advantage of Apache Iceberg’s advanced analytics capabilities such as row-level transactions, </a:t>
            </a:r>
            <a:r>
              <a:rPr lang="en-US" altLang="zh-CN" b="0" i="0" dirty="0" err="1">
                <a:effectLst/>
                <a:latin typeface="+mn-lt"/>
              </a:rPr>
              <a:t>queryable</a:t>
            </a:r>
            <a:r>
              <a:rPr lang="en-US" altLang="zh-CN" b="0" i="0" dirty="0">
                <a:effectLst/>
                <a:latin typeface="+mn-lt"/>
              </a:rPr>
              <a:t> snapshots, schema evolution, and more. Table buckets also provide policy-driven table maintenance, helping you to automate operational tasks such as compaction, snapshot management, and unreferenced file removal.</a:t>
            </a:r>
          </a:p>
          <a:p>
            <a:pPr algn="l"/>
            <a:r>
              <a:rPr lang="en-US" altLang="zh-CN" b="0" i="0" dirty="0">
                <a:effectLst/>
                <a:latin typeface="+mn-lt"/>
              </a:rPr>
              <a:t>Amazon S3 Tables are now available in the Amazon Web Services China (Beijing) Region, operated by Sinnet, and the Amazon Web Services China (Ningxia) Region, operated by NWCD. For pricing details, visit the </a:t>
            </a:r>
            <a:r>
              <a:rPr lang="en-US" altLang="zh-CN" b="0" i="0" u="sng" dirty="0">
                <a:effectLst/>
                <a:latin typeface="+mn-lt"/>
                <a:hlinkClick r:id="rId2">
                  <a:extLst>
                    <a:ext uri="{A12FA001-AC4F-418D-AE19-62706E023703}">
                      <ahyp:hlinkClr xmlns:ahyp="http://schemas.microsoft.com/office/drawing/2018/hyperlinkcolor" val="tx"/>
                    </a:ext>
                  </a:extLst>
                </a:hlinkClick>
              </a:rPr>
              <a:t>S3 pricing page</a:t>
            </a:r>
            <a:r>
              <a:rPr lang="en-US" altLang="zh-CN" b="0" i="0" dirty="0">
                <a:effectLst/>
                <a:latin typeface="+mn-lt"/>
              </a:rPr>
              <a:t>. To learn more, visit the </a:t>
            </a:r>
            <a:r>
              <a:rPr lang="en-US" altLang="zh-CN" b="0" i="0" u="sng" dirty="0">
                <a:effectLst/>
                <a:latin typeface="+mn-lt"/>
                <a:hlinkClick r:id="rId3">
                  <a:extLst>
                    <a:ext uri="{A12FA001-AC4F-418D-AE19-62706E023703}">
                      <ahyp:hlinkClr xmlns:ahyp="http://schemas.microsoft.com/office/drawing/2018/hyperlinkcolor" val="tx"/>
                    </a:ext>
                  </a:extLst>
                </a:hlinkClick>
              </a:rPr>
              <a:t>product page</a:t>
            </a:r>
            <a:r>
              <a:rPr lang="en-US" altLang="zh-CN" b="0" i="0" dirty="0">
                <a:effectLst/>
                <a:latin typeface="+mn-lt"/>
              </a:rPr>
              <a:t> and </a:t>
            </a:r>
            <a:r>
              <a:rPr lang="en-US" altLang="zh-CN" b="0" i="0" u="sng" dirty="0">
                <a:effectLst/>
                <a:latin typeface="+mn-lt"/>
                <a:hlinkClick r:id="rId4">
                  <a:extLst>
                    <a:ext uri="{A12FA001-AC4F-418D-AE19-62706E023703}">
                      <ahyp:hlinkClr xmlns:ahyp="http://schemas.microsoft.com/office/drawing/2018/hyperlinkcolor" val="tx"/>
                    </a:ext>
                  </a:extLst>
                </a:hlinkClick>
              </a:rPr>
              <a:t>documentation</a:t>
            </a:r>
            <a:r>
              <a:rPr lang="en-US" altLang="zh-CN" b="0" i="0" dirty="0">
                <a:effectLst/>
                <a:latin typeface="+mn-lt"/>
              </a:rPr>
              <a:t>.</a:t>
            </a:r>
          </a:p>
          <a:p>
            <a:pPr algn="l"/>
            <a:endParaRPr lang="en-US" altLang="zh-CN" dirty="0">
              <a:latin typeface="+mn-lt"/>
            </a:endParaRPr>
          </a:p>
          <a:p>
            <a:pPr algn="l"/>
            <a:r>
              <a:rPr lang="en-US" altLang="zh-CN" b="0" i="0" dirty="0">
                <a:effectLst/>
                <a:latin typeface="+mn-lt"/>
                <a:hlinkClick r:id="rId5"/>
              </a:rPr>
              <a:t>https://www.amazonaws.cn/en/new/2025/announcing-amazon-s3-tables/</a:t>
            </a:r>
            <a:endParaRPr lang="en-US" altLang="zh-CN" b="0" i="0" dirty="0">
              <a:effectLst/>
              <a:latin typeface="+mn-lt"/>
            </a:endParaRPr>
          </a:p>
          <a:p>
            <a:pPr algn="l"/>
            <a:endParaRPr lang="en-US" altLang="zh-CN" b="0" i="0" dirty="0">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Announcing Amazon S3 Tables - Fully managed Apache Iceberg tables optimized for analytics workloads</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2562820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1019335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29, 2025</a:t>
            </a:r>
          </a:p>
          <a:p>
            <a:pPr algn="l"/>
            <a:r>
              <a:rPr lang="en-US" altLang="zh-CN" b="0" i="0" dirty="0">
                <a:effectLst/>
                <a:latin typeface="+mn-lt"/>
              </a:rPr>
              <a:t>Amazon Elastic Container Registry (ECR) now supports automatic repository creation on image push. This new capability simplifies container workflows by having ECR automatically create repositories if they don't exist when an image is pushed, without customers having to pre-create repositories before pushing container images. Now when customers push images, ECR will automatically create repositories according to defined repository creation template settings.</a:t>
            </a:r>
            <a:br>
              <a:rPr lang="en-US" altLang="zh-CN" b="0" i="0" dirty="0">
                <a:effectLst/>
                <a:latin typeface="+mn-lt"/>
              </a:rPr>
            </a:br>
            <a:br>
              <a:rPr lang="en-US" altLang="zh-CN" b="0" i="0" dirty="0">
                <a:effectLst/>
                <a:latin typeface="+mn-lt"/>
              </a:rPr>
            </a:br>
            <a:r>
              <a:rPr lang="en-US" altLang="zh-CN" b="0" i="0" dirty="0">
                <a:effectLst/>
                <a:latin typeface="+mn-lt"/>
              </a:rPr>
              <a:t>Create on push is available in Amazon Web Services China (Beijing) Region, operated by Sinnet, and the Amazon Web Services China (Ningxia) Region, operated by NWCD. To learn more about repository creation templates, please visit our </a:t>
            </a:r>
            <a:r>
              <a:rPr lang="en-US" altLang="zh-CN" b="0" i="0" u="sng" dirty="0">
                <a:effectLst/>
                <a:latin typeface="+mn-lt"/>
                <a:hlinkClick r:id="rId2">
                  <a:extLst>
                    <a:ext uri="{A12FA001-AC4F-418D-AE19-62706E023703}">
                      <ahyp:hlinkClr xmlns:ahyp="http://schemas.microsoft.com/office/drawing/2018/hyperlinkcolor" val="tx"/>
                    </a:ext>
                  </a:extLst>
                </a:hlinkClick>
              </a:rPr>
              <a:t>documentation</a:t>
            </a:r>
            <a:r>
              <a:rPr lang="en-US" altLang="zh-CN" b="0" i="0" dirty="0">
                <a:effectLst/>
                <a:latin typeface="+mn-lt"/>
              </a:rPr>
              <a:t>. You can learn more about storing, managing and deploying container images and artifacts with Amazon ECR, including how to get started, from our </a:t>
            </a:r>
            <a:r>
              <a:rPr lang="en-US" altLang="zh-CN" b="0" i="0" u="sng" dirty="0">
                <a:effectLst/>
                <a:latin typeface="+mn-lt"/>
                <a:hlinkClick r:id="rId3">
                  <a:extLst>
                    <a:ext uri="{A12FA001-AC4F-418D-AE19-62706E023703}">
                      <ahyp:hlinkClr xmlns:ahyp="http://schemas.microsoft.com/office/drawing/2018/hyperlinkcolor" val="tx"/>
                    </a:ext>
                  </a:extLst>
                </a:hlinkClick>
              </a:rPr>
              <a:t>product page</a:t>
            </a:r>
            <a:r>
              <a:rPr lang="en-US" altLang="zh-CN" b="0" i="0" dirty="0">
                <a:effectLst/>
                <a:latin typeface="+mn-lt"/>
              </a:rPr>
              <a:t> and </a:t>
            </a:r>
            <a:r>
              <a:rPr lang="en-US" altLang="zh-CN" b="0" i="0" u="sng" dirty="0">
                <a:effectLst/>
                <a:latin typeface="+mn-lt"/>
                <a:hlinkClick r:id="rId4">
                  <a:extLst>
                    <a:ext uri="{A12FA001-AC4F-418D-AE19-62706E023703}">
                      <ahyp:hlinkClr xmlns:ahyp="http://schemas.microsoft.com/office/drawing/2018/hyperlinkcolor" val="tx"/>
                    </a:ext>
                  </a:extLst>
                </a:hlinkClick>
              </a:rPr>
              <a:t>user guide</a:t>
            </a:r>
            <a:r>
              <a:rPr lang="en-US" altLang="zh-CN" b="0" i="0" dirty="0">
                <a:effectLst/>
                <a:latin typeface="+mn-lt"/>
              </a:rPr>
              <a:t>.</a:t>
            </a:r>
          </a:p>
          <a:p>
            <a:pPr algn="l"/>
            <a:endParaRPr lang="en-US" altLang="zh-CN" dirty="0">
              <a:solidFill>
                <a:srgbClr val="2E3C4E"/>
              </a:solidFill>
              <a:latin typeface="+mn-lt"/>
            </a:endParaRPr>
          </a:p>
          <a:p>
            <a:pPr algn="l"/>
            <a:r>
              <a:rPr lang="en-US" altLang="zh-CN" b="0" i="0" dirty="0">
                <a:solidFill>
                  <a:srgbClr val="2E3C4E"/>
                </a:solidFill>
                <a:effectLst/>
                <a:latin typeface="+mn-lt"/>
                <a:hlinkClick r:id="rId5"/>
              </a:rPr>
              <a:t>https://www.amazonaws.cn/en/new/2025/amazon-ecr-supports-creating-repositories-on-push/</a:t>
            </a:r>
            <a:endParaRPr lang="en-US" altLang="zh-CN" b="0" i="0" dirty="0">
              <a:solidFill>
                <a:srgbClr val="2E3C4E"/>
              </a:solidFill>
              <a:effectLst/>
              <a:latin typeface="+mn-lt"/>
            </a:endParaRPr>
          </a:p>
          <a:p>
            <a:pPr algn="l"/>
            <a:endParaRPr lang="en-US" altLang="zh-CN" b="0" i="0" dirty="0">
              <a:solidFill>
                <a:srgbClr val="2E3C4E"/>
              </a:solidFill>
              <a:effectLst/>
              <a:latin typeface="AmazonEmber"/>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ECR now supports creating repositories on push in Amazon Web Services China regions</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1662458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1993974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19, 2025</a:t>
            </a:r>
          </a:p>
          <a:p>
            <a:pPr algn="l"/>
            <a:r>
              <a:rPr lang="en-US" altLang="zh-CN" b="0" i="0" dirty="0">
                <a:effectLst/>
                <a:latin typeface="+mn-lt"/>
              </a:rPr>
              <a:t>Amazon Relational Database Service (RDS) now offers enhanced observability for your snapshot exports to Amazon S3, providing detailed insights into export progress, failures, and performance for each task. These notifications enable you to monitor your exports with greater granularity and enables more predictability.</a:t>
            </a:r>
          </a:p>
          <a:p>
            <a:pPr algn="l"/>
            <a:r>
              <a:rPr lang="en-US" altLang="zh-CN" b="0" i="0" dirty="0">
                <a:effectLst/>
                <a:latin typeface="+mn-lt"/>
              </a:rPr>
              <a:t>With snapshot export to S3, you can export data from your RDS database snapshots to Apache Parquet format in your Amazon S3 bucket. This launch introduces four new event types, including current export progress and table-level notifications for long-running tables, providing more granular visibility into your snapshot export performance and recommendations for troubleshooting export operation issues. Additionally, you can view export progress, such as the number of tables exported and pending, along with exported data sizes, enabling you to better plan your operations and workflows. You can subscribe to these events through Amazon Simple Notification Service (SNS) to receive notifications and view the export events through the Amazon Web Services Management Console, Amazon CLI, or Amazon SDK.</a:t>
            </a:r>
          </a:p>
          <a:p>
            <a:pPr algn="l"/>
            <a:r>
              <a:rPr lang="en-US" altLang="zh-CN" b="0" i="0" dirty="0">
                <a:effectLst/>
                <a:latin typeface="+mn-lt"/>
              </a:rPr>
              <a:t>This feature is available for RDS PostgreSQL, RDS MySQL, and RDS MariaDB engines in all Commercial Regions where RDS is generally available, including Amazon Web Services China (Beijing region, operated by Sinnet, and Amazon Web Services China (Ningxia) region, operated by NWCD. </a:t>
            </a:r>
          </a:p>
          <a:p>
            <a:pPr algn="l"/>
            <a:r>
              <a:rPr lang="en-US" altLang="zh-CN" b="0" i="0" dirty="0">
                <a:effectLst/>
                <a:latin typeface="+mn-lt"/>
              </a:rPr>
              <a:t>To learn more about the new event types, see </a:t>
            </a:r>
            <a:r>
              <a:rPr lang="en-US" altLang="zh-CN" b="0" i="0" u="sng" dirty="0">
                <a:effectLst/>
                <a:latin typeface="+mn-lt"/>
                <a:hlinkClick r:id="rId2">
                  <a:extLst>
                    <a:ext uri="{A12FA001-AC4F-418D-AE19-62706E023703}">
                      <ahyp:hlinkClr xmlns:ahyp="http://schemas.microsoft.com/office/drawing/2018/hyperlinkcolor" val="tx"/>
                    </a:ext>
                  </a:extLst>
                </a:hlinkClick>
              </a:rPr>
              <a:t>Event categories in RDS</a:t>
            </a:r>
            <a:r>
              <a:rPr lang="en-US" altLang="zh-CN" b="0" i="0" dirty="0">
                <a:effectLst/>
                <a:latin typeface="+mn-lt"/>
              </a:rPr>
              <a:t>. </a:t>
            </a:r>
          </a:p>
          <a:p>
            <a:pPr algn="l"/>
            <a:endParaRPr lang="en-US" altLang="zh-CN" dirty="0">
              <a:solidFill>
                <a:srgbClr val="2E3C4E"/>
              </a:solidFill>
              <a:latin typeface="+mn-lt"/>
            </a:endParaRPr>
          </a:p>
          <a:p>
            <a:pPr algn="l"/>
            <a:r>
              <a:rPr lang="en-US" altLang="zh-CN" b="0" i="0" dirty="0">
                <a:solidFill>
                  <a:srgbClr val="2E3C4E"/>
                </a:solidFill>
                <a:effectLst/>
                <a:latin typeface="+mn-lt"/>
                <a:hlinkClick r:id="rId3"/>
              </a:rPr>
              <a:t>https://www.amazonaws.cn/en/new/2025/amazon-rds-enhances-observability-for-snapshot-exports-to-amazon-s3/</a:t>
            </a:r>
            <a:endParaRPr lang="en-US" altLang="zh-CN" b="0" i="0" dirty="0">
              <a:solidFill>
                <a:srgbClr val="2E3C4E"/>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RDS enhances observability for snapshot exports to Amazon S3</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230410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556318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5, 2025</a:t>
            </a:r>
          </a:p>
          <a:p>
            <a:pPr algn="l"/>
            <a:r>
              <a:rPr lang="en-US" altLang="zh-CN" b="0" i="0" dirty="0">
                <a:effectLst/>
                <a:latin typeface="+mn-lt"/>
              </a:rPr>
              <a:t>Today, we are announcing further enhancements to Amazon </a:t>
            </a:r>
            <a:r>
              <a:rPr lang="en-US" altLang="zh-CN" b="0" i="0" dirty="0" err="1">
                <a:effectLst/>
                <a:latin typeface="+mn-lt"/>
              </a:rPr>
              <a:t>GuardDuty</a:t>
            </a:r>
            <a:r>
              <a:rPr lang="en-US" altLang="zh-CN" b="0" i="0" dirty="0">
                <a:effectLst/>
                <a:latin typeface="+mn-lt"/>
              </a:rPr>
              <a:t> Extended Threat Detection with new capabilities to detect multistage attacks targeting Amazon Elastic Compute Cloud (Amazon EC2). </a:t>
            </a:r>
            <a:r>
              <a:rPr lang="en-US" altLang="zh-CN" b="0" i="0" dirty="0" err="1">
                <a:effectLst/>
                <a:latin typeface="+mn-lt"/>
              </a:rPr>
              <a:t>GuardDuty</a:t>
            </a:r>
            <a:r>
              <a:rPr lang="en-US" altLang="zh-CN" b="0" i="0" dirty="0">
                <a:effectLst/>
                <a:latin typeface="+mn-lt"/>
              </a:rPr>
              <a:t> Extended Threat Detection uses artificial intelligence and machine learning algorithms trained at Amazon Web Services scale to automatically correlate security signals and detect critical threats. It analyzes multiple security signals across network activity, process runtime behavior, malware execution, and Amazon Web Services API activity over extended periods to detect sophisticated attack patterns that might otherwise go unnoticed. </a:t>
            </a:r>
          </a:p>
          <a:p>
            <a:pPr algn="l"/>
            <a:r>
              <a:rPr lang="en-US" altLang="zh-CN" b="0" i="0" dirty="0">
                <a:effectLst/>
                <a:latin typeface="+mn-lt"/>
              </a:rPr>
              <a:t>With this launch, </a:t>
            </a:r>
            <a:r>
              <a:rPr lang="en-US" altLang="zh-CN" b="0" i="0" dirty="0" err="1">
                <a:effectLst/>
                <a:latin typeface="+mn-lt"/>
              </a:rPr>
              <a:t>GuardDuty</a:t>
            </a:r>
            <a:r>
              <a:rPr lang="en-US" altLang="zh-CN" b="0" i="0" dirty="0">
                <a:effectLst/>
                <a:latin typeface="+mn-lt"/>
              </a:rPr>
              <a:t> introduces new critical-severity finding: AttackSequence:EC2/</a:t>
            </a:r>
            <a:r>
              <a:rPr lang="en-US" altLang="zh-CN" b="0" i="0" dirty="0" err="1">
                <a:effectLst/>
                <a:latin typeface="+mn-lt"/>
              </a:rPr>
              <a:t>CompromisedInstanceGroup</a:t>
            </a:r>
            <a:r>
              <a:rPr lang="en-US" altLang="zh-CN" b="0" i="0" dirty="0">
                <a:effectLst/>
                <a:latin typeface="+mn-lt"/>
              </a:rPr>
              <a:t> This finding provides attack sequence information, allowing you to spend less time on initial analysis and more time responding to critical threats, minimizing business impact. For example, </a:t>
            </a:r>
            <a:r>
              <a:rPr lang="en-US" altLang="zh-CN" b="0" i="0" dirty="0" err="1">
                <a:effectLst/>
                <a:latin typeface="+mn-lt"/>
              </a:rPr>
              <a:t>GuardDuty</a:t>
            </a:r>
            <a:r>
              <a:rPr lang="en-US" altLang="zh-CN" b="0" i="0" dirty="0">
                <a:effectLst/>
                <a:latin typeface="+mn-lt"/>
              </a:rPr>
              <a:t> can identify suspicious processes followed by persistence attempts, crypto-mining activities, and reverse shell creation, representing these related events as a single, critical-severity finding. Each finding includes a detailed summary, events timeline, mapping to MITRE ATT&amp;CK® tactics and techniques, and remediation recommendations.</a:t>
            </a:r>
          </a:p>
          <a:p>
            <a:pPr algn="l"/>
            <a:r>
              <a:rPr lang="en-US" altLang="zh-CN" b="0" i="0" dirty="0" err="1">
                <a:effectLst/>
                <a:latin typeface="+mn-lt"/>
              </a:rPr>
              <a:t>GuardDuty</a:t>
            </a:r>
            <a:r>
              <a:rPr lang="en-US" altLang="zh-CN" b="0" i="0" dirty="0">
                <a:effectLst/>
                <a:latin typeface="+mn-lt"/>
              </a:rPr>
              <a:t> Extended Threat Detection for Amazon EC2 is now available in Amazon Web Services China (Beijing) Region, operated by Sinnet and Amazon Web Services China (Ningxia) Region, operated by NWCD at no additional charge. </a:t>
            </a:r>
          </a:p>
          <a:p>
            <a:pPr algn="l"/>
            <a:r>
              <a:rPr lang="en-US" altLang="zh-CN" b="0" i="0" dirty="0">
                <a:effectLst/>
                <a:latin typeface="+mn-lt"/>
              </a:rPr>
              <a:t>To get started, enable </a:t>
            </a:r>
            <a:r>
              <a:rPr lang="en-US" altLang="zh-CN" b="0" i="0" dirty="0" err="1">
                <a:effectLst/>
                <a:latin typeface="+mn-lt"/>
              </a:rPr>
              <a:t>GuardDuty</a:t>
            </a:r>
            <a:r>
              <a:rPr lang="en-US" altLang="zh-CN" b="0" i="0" dirty="0">
                <a:effectLst/>
                <a:latin typeface="+mn-lt"/>
              </a:rPr>
              <a:t> protection plans via the Console or API. New </a:t>
            </a:r>
            <a:r>
              <a:rPr lang="en-US" altLang="zh-CN" b="0" i="0" dirty="0" err="1">
                <a:effectLst/>
                <a:latin typeface="+mn-lt"/>
              </a:rPr>
              <a:t>GuardDuty</a:t>
            </a:r>
            <a:r>
              <a:rPr lang="en-US" altLang="zh-CN" b="0" i="0" dirty="0">
                <a:effectLst/>
                <a:latin typeface="+mn-lt"/>
              </a:rPr>
              <a:t> customers can start with a 30-day free trial. For additional information, visit </a:t>
            </a:r>
            <a:r>
              <a:rPr lang="en-US" altLang="zh-CN" b="0" i="0" u="sng" dirty="0">
                <a:effectLst/>
                <a:latin typeface="+mn-lt"/>
                <a:hlinkClick r:id="rId2">
                  <a:extLst>
                    <a:ext uri="{A12FA001-AC4F-418D-AE19-62706E023703}">
                      <ahyp:hlinkClr xmlns:ahyp="http://schemas.microsoft.com/office/drawing/2018/hyperlinkcolor" val="tx"/>
                    </a:ext>
                  </a:extLst>
                </a:hlinkClick>
              </a:rPr>
              <a:t>Amazon </a:t>
            </a:r>
            <a:r>
              <a:rPr lang="en-US" altLang="zh-CN" b="0" i="0" u="sng" dirty="0" err="1">
                <a:effectLst/>
                <a:latin typeface="+mn-lt"/>
                <a:hlinkClick r:id="rId2">
                  <a:extLst>
                    <a:ext uri="{A12FA001-AC4F-418D-AE19-62706E023703}">
                      <ahyp:hlinkClr xmlns:ahyp="http://schemas.microsoft.com/office/drawing/2018/hyperlinkcolor" val="tx"/>
                    </a:ext>
                  </a:extLst>
                </a:hlinkClick>
              </a:rPr>
              <a:t>GuardDuty</a:t>
            </a:r>
            <a:r>
              <a:rPr lang="en-US" altLang="zh-CN" b="0" i="0" u="sng" dirty="0">
                <a:effectLst/>
                <a:latin typeface="+mn-lt"/>
                <a:hlinkClick r:id="rId2">
                  <a:extLst>
                    <a:ext uri="{A12FA001-AC4F-418D-AE19-62706E023703}">
                      <ahyp:hlinkClr xmlns:ahyp="http://schemas.microsoft.com/office/drawing/2018/hyperlinkcolor" val="tx"/>
                    </a:ext>
                  </a:extLst>
                </a:hlinkClick>
              </a:rPr>
              <a:t> product page</a:t>
            </a:r>
            <a:r>
              <a:rPr lang="en-US" altLang="zh-CN" b="0" i="0" dirty="0">
                <a:effectLst/>
                <a:latin typeface="+mn-lt"/>
              </a:rPr>
              <a:t>.</a:t>
            </a:r>
          </a:p>
          <a:p>
            <a:pPr algn="l"/>
            <a:endParaRPr lang="en-US" altLang="zh-CN" dirty="0">
              <a:solidFill>
                <a:srgbClr val="2E3C4E"/>
              </a:solidFill>
              <a:latin typeface="+mn-lt"/>
            </a:endParaRPr>
          </a:p>
          <a:p>
            <a:pPr algn="l"/>
            <a:r>
              <a:rPr lang="en-US" altLang="zh-CN" b="0" i="0" dirty="0">
                <a:solidFill>
                  <a:srgbClr val="2E3C4E"/>
                </a:solidFill>
                <a:effectLst/>
                <a:latin typeface="+mn-lt"/>
                <a:hlinkClick r:id="rId3"/>
              </a:rPr>
              <a:t>https://www.amazonaws.cn/en/new/2025/amazon-guardduty-extended-threat-detection-supports-amazon-ec2-and-amazon-ecs/</a:t>
            </a:r>
            <a:endParaRPr lang="en-US" altLang="zh-CN" b="0" i="0" dirty="0">
              <a:solidFill>
                <a:srgbClr val="2E3C4E"/>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a:t>
            </a:r>
            <a:r>
              <a:rPr lang="en-US" altLang="zh-CN" b="1" dirty="0" err="1"/>
              <a:t>GuardDuty</a:t>
            </a:r>
            <a:r>
              <a:rPr lang="en-US" altLang="zh-CN" b="1" dirty="0"/>
              <a:t> Extended Threat Detection now supports Amazon EC2 and Amazon ECS</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3019689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3254724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11, 2025</a:t>
            </a:r>
          </a:p>
          <a:p>
            <a:pPr algn="l"/>
            <a:r>
              <a:rPr lang="en-US" altLang="zh-CN" b="0" i="0" dirty="0">
                <a:effectLst/>
                <a:latin typeface="+mn-lt"/>
              </a:rPr>
              <a:t>Amazon Organizations now provides customers the ability to directly transfer an account to a different organization without first having to remove the account from their current organization. This new capability streamlines the process of transferring accounts between organizations, whether those transfers are part of ongoing operations or an acquisition integration project. </a:t>
            </a:r>
          </a:p>
          <a:p>
            <a:pPr algn="l"/>
            <a:r>
              <a:rPr lang="en-US" altLang="zh-CN" b="0" i="0" dirty="0">
                <a:effectLst/>
                <a:latin typeface="+mn-lt"/>
              </a:rPr>
              <a:t>Allowing direct transfers of accounts between organizations eliminates the previous requirement for the account to temporarily operate as a standalone account. With the standalone step removed, customers no longer need to manually configure the account's payment method, contact information, and support plan as part of the transfer. Direct transfers of accounts also ensure the account maintains access to the governance features and consolidated billing benefits of the organization they are in before and after the transfer process. The updated process is simpler and uses the same Amazon Organizations console experience and APIs as before: an organization invites an account, and the account accepts the invite.</a:t>
            </a:r>
          </a:p>
          <a:p>
            <a:pPr algn="l"/>
            <a:r>
              <a:rPr lang="en-US" altLang="zh-CN" b="0" i="0" dirty="0">
                <a:effectLst/>
                <a:latin typeface="+mn-lt"/>
              </a:rPr>
              <a:t>Direct account transfers between organizations are available for organizations in the same region group, and this feature is available in Amazon Web Services China (Beijing) region, operated by Sinnet, and Amazon Web Services China (Ningxia) region, operated by NWCD.</a:t>
            </a:r>
          </a:p>
          <a:p>
            <a:pPr algn="l"/>
            <a:r>
              <a:rPr lang="en-US" altLang="zh-CN" b="0" i="0" dirty="0">
                <a:effectLst/>
                <a:latin typeface="+mn-lt"/>
              </a:rPr>
              <a:t>To learn more about directly transferring accounts between Amazon organizations, see </a:t>
            </a:r>
            <a:r>
              <a:rPr lang="en-US" altLang="zh-CN" b="0" i="0" u="sng" dirty="0">
                <a:effectLst/>
                <a:latin typeface="+mn-lt"/>
                <a:hlinkClick r:id="rId2">
                  <a:extLst>
                    <a:ext uri="{A12FA001-AC4F-418D-AE19-62706E023703}">
                      <ahyp:hlinkClr xmlns:ahyp="http://schemas.microsoft.com/office/drawing/2018/hyperlinkcolor" val="tx"/>
                    </a:ext>
                  </a:extLst>
                </a:hlinkClick>
              </a:rPr>
              <a:t>Managing account invitations with Amazon Organizations</a:t>
            </a:r>
            <a:r>
              <a:rPr lang="en-US" altLang="zh-CN" b="0" i="0" dirty="0">
                <a:effectLst/>
                <a:latin typeface="+mn-lt"/>
              </a:rPr>
              <a:t> from the Amazon Web Services user guide, or review the </a:t>
            </a:r>
            <a:r>
              <a:rPr lang="en-US" altLang="zh-CN" b="0" i="0" u="sng" dirty="0">
                <a:effectLst/>
                <a:latin typeface="+mn-lt"/>
                <a:hlinkClick r:id="rId3">
                  <a:extLst>
                    <a:ext uri="{A12FA001-AC4F-418D-AE19-62706E023703}">
                      <ahyp:hlinkClr xmlns:ahyp="http://schemas.microsoft.com/office/drawing/2018/hyperlinkcolor" val="tx"/>
                    </a:ext>
                  </a:extLst>
                </a:hlinkClick>
              </a:rPr>
              <a:t>Amazon Organizations API Reference.</a:t>
            </a:r>
            <a:endParaRPr lang="en-US" altLang="zh-CN" b="0" i="0" u="sng" dirty="0">
              <a:effectLst/>
              <a:latin typeface="+mn-lt"/>
            </a:endParaRPr>
          </a:p>
          <a:p>
            <a:pPr algn="l"/>
            <a:endParaRPr lang="en-US" altLang="zh-CN" u="sng" dirty="0">
              <a:solidFill>
                <a:srgbClr val="0972D3"/>
              </a:solidFill>
              <a:latin typeface="+mn-lt"/>
            </a:endParaRPr>
          </a:p>
          <a:p>
            <a:pPr algn="l"/>
            <a:r>
              <a:rPr lang="en-US" altLang="zh-CN" b="0" i="0" dirty="0">
                <a:solidFill>
                  <a:srgbClr val="2E3C4E"/>
                </a:solidFill>
                <a:effectLst/>
                <a:latin typeface="+mn-lt"/>
                <a:hlinkClick r:id="rId4"/>
              </a:rPr>
              <a:t>https://www.amazonaws.cn/en/new/2025/amazon-organizations-introduces-direct-account-transfers-between-organizations/</a:t>
            </a:r>
            <a:endParaRPr lang="en-US" altLang="zh-CN" b="0" i="0" u="sng" dirty="0">
              <a:solidFill>
                <a:srgbClr val="0972D3"/>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Organizations Introduces Direct Account Transfers Between Organizations</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2210124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2755854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16, 2025</a:t>
            </a:r>
          </a:p>
          <a:p>
            <a:pPr algn="l"/>
            <a:r>
              <a:rPr lang="en-US" altLang="zh-CN" b="0" i="0" dirty="0">
                <a:effectLst/>
                <a:latin typeface="+mn-lt"/>
              </a:rPr>
              <a:t>Starting today, you can enable Amazon CloudWatch metrics for Route 53 to monitor the performance and health of Route 53 Resolver endpoints and any target name servers associated with your outbound Resolver endpoints. </a:t>
            </a:r>
          </a:p>
          <a:p>
            <a:pPr algn="l"/>
            <a:r>
              <a:rPr lang="en-US" altLang="zh-CN" b="0" i="0" dirty="0">
                <a:effectLst/>
                <a:latin typeface="+mn-lt"/>
              </a:rPr>
              <a:t>Amazon Route 53 Resolver endpoints make hybrid cloud configurations easier to manage by enabling seamless DNS query resolution between your on-premises data center and Amazon Virtual Private Cloud (Amazon VPC). The new metrics can be enabled on CloudWatch for each of your Resolver endpoints allowing you to assess the response latency of DNS queries received by the Resolver endpoints, the number of query responses that resulted in SERVFAIL, NXDOMAIN, REFUSED, or FORMERR statuses. You can also view the availability of target name servers associated with outbound Resolver endpoints, by viewing the response latency of the target server, and the number of queries that resulted in a timeout. The new metrics make it easy for you to quickly evaluate the health of your Route 53 Resolver endpoints and the associated target name servers. </a:t>
            </a:r>
          </a:p>
          <a:p>
            <a:pPr algn="l"/>
            <a:r>
              <a:rPr lang="en-US" altLang="zh-CN" b="0" i="0" dirty="0">
                <a:effectLst/>
                <a:latin typeface="+mn-lt"/>
              </a:rPr>
              <a:t>To learn more about the metrics, read the </a:t>
            </a:r>
            <a:r>
              <a:rPr lang="en-US" altLang="zh-CN" b="0" i="0" u="sng" dirty="0">
                <a:effectLst/>
                <a:latin typeface="+mn-lt"/>
                <a:hlinkClick r:id="rId2">
                  <a:extLst>
                    <a:ext uri="{A12FA001-AC4F-418D-AE19-62706E023703}">
                      <ahyp:hlinkClr xmlns:ahyp="http://schemas.microsoft.com/office/drawing/2018/hyperlinkcolor" val="tx"/>
                    </a:ext>
                  </a:extLst>
                </a:hlinkClick>
              </a:rPr>
              <a:t>documentation</a:t>
            </a:r>
            <a:r>
              <a:rPr lang="en-US" altLang="zh-CN" b="0" i="0" dirty="0">
                <a:effectLst/>
                <a:latin typeface="+mn-lt"/>
              </a:rPr>
              <a:t>. Standard CloudWatch and Resolver endpoint charged are applied for using the Route 53 Resolver endpoint detailed metrics. For more information, see </a:t>
            </a:r>
            <a:r>
              <a:rPr lang="en-US" altLang="zh-CN" b="0" i="0" u="sng" dirty="0">
                <a:effectLst/>
                <a:latin typeface="+mn-lt"/>
                <a:hlinkClick r:id="rId3">
                  <a:extLst>
                    <a:ext uri="{A12FA001-AC4F-418D-AE19-62706E023703}">
                      <ahyp:hlinkClr xmlns:ahyp="http://schemas.microsoft.com/office/drawing/2018/hyperlinkcolor" val="tx"/>
                    </a:ext>
                  </a:extLst>
                </a:hlinkClick>
              </a:rPr>
              <a:t>Amazon CloudWatch pricing</a:t>
            </a:r>
            <a:r>
              <a:rPr lang="en-US" altLang="zh-CN" b="0" i="0" dirty="0">
                <a:effectLst/>
                <a:latin typeface="+mn-lt"/>
              </a:rPr>
              <a:t> and </a:t>
            </a:r>
            <a:r>
              <a:rPr lang="en-US" altLang="zh-CN" b="0" i="0" u="sng" dirty="0">
                <a:effectLst/>
                <a:latin typeface="+mn-lt"/>
                <a:hlinkClick r:id="rId4">
                  <a:extLst>
                    <a:ext uri="{A12FA001-AC4F-418D-AE19-62706E023703}">
                      <ahyp:hlinkClr xmlns:ahyp="http://schemas.microsoft.com/office/drawing/2018/hyperlinkcolor" val="tx"/>
                    </a:ext>
                  </a:extLst>
                </a:hlinkClick>
              </a:rPr>
              <a:t>Resolver endpoint pricing</a:t>
            </a:r>
            <a:r>
              <a:rPr lang="en-US" altLang="zh-CN" b="0" i="0" dirty="0">
                <a:effectLst/>
                <a:latin typeface="+mn-lt"/>
              </a:rPr>
              <a:t>.</a:t>
            </a:r>
          </a:p>
          <a:p>
            <a:pPr algn="l"/>
            <a:endParaRPr lang="en-US" altLang="zh-CN" dirty="0">
              <a:latin typeface="+mn-lt"/>
            </a:endParaRPr>
          </a:p>
          <a:p>
            <a:pPr algn="l"/>
            <a:r>
              <a:rPr lang="en-US" altLang="zh-CN" b="0" i="0" dirty="0">
                <a:solidFill>
                  <a:srgbClr val="2E3C4E"/>
                </a:solidFill>
                <a:effectLst/>
                <a:latin typeface="+mn-lt"/>
                <a:hlinkClick r:id="rId5"/>
              </a:rPr>
              <a:t>https://www.amazonaws.cn/en/new/2025/amazon-route-53-launches-detailed-metrics-for-resolver-endpoints/</a:t>
            </a:r>
            <a:endParaRPr lang="en-US" altLang="zh-CN" b="0" i="0" dirty="0">
              <a:solidFill>
                <a:srgbClr val="2E3C4E"/>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Route 53 launches detailed metrics for Resolver endpoints</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1035691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accent2">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Marketplace</a:t>
            </a:r>
          </a:p>
        </p:txBody>
      </p:sp>
    </p:spTree>
    <p:extLst>
      <p:ext uri="{BB962C8B-B14F-4D97-AF65-F5344CB8AC3E}">
        <p14:creationId xmlns:p14="http://schemas.microsoft.com/office/powerpoint/2010/main" val="1827978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24, 2025</a:t>
            </a:r>
          </a:p>
          <a:p>
            <a:pPr algn="l"/>
            <a:r>
              <a:rPr lang="en-US" altLang="zh-CN" b="0" i="0" dirty="0">
                <a:effectLst/>
                <a:latin typeface="+mn-lt"/>
              </a:rPr>
              <a:t>Amazon IoT now supports event-based logging, a new capability that helps developers reduce Amazon CloudWatch costs while improving log management efficiency. This feature enables targeted logging for individual events with customizable log levels and Amazon CloudWatch log group destinations.</a:t>
            </a:r>
            <a:br>
              <a:rPr lang="en-US" altLang="zh-CN" b="0" i="0" dirty="0">
                <a:effectLst/>
                <a:latin typeface="+mn-lt"/>
              </a:rPr>
            </a:br>
            <a:br>
              <a:rPr lang="en-US" altLang="zh-CN" b="0" i="0" dirty="0">
                <a:effectLst/>
                <a:latin typeface="+mn-lt"/>
              </a:rPr>
            </a:br>
            <a:r>
              <a:rPr lang="en-US" altLang="zh-CN" b="0" i="0" dirty="0">
                <a:effectLst/>
                <a:latin typeface="+mn-lt"/>
              </a:rPr>
              <a:t>With Event-Based Logging, you can set different log levels for different types of IoT events based on their operational importance. For example, you can configure INFO-level logging for </a:t>
            </a:r>
            <a:r>
              <a:rPr lang="en-US" altLang="zh-CN" b="0" i="0" dirty="0" err="1">
                <a:effectLst/>
                <a:latin typeface="+mn-lt"/>
              </a:rPr>
              <a:t>certificateProvider</a:t>
            </a:r>
            <a:r>
              <a:rPr lang="en-US" altLang="zh-CN" b="0" i="0" dirty="0">
                <a:effectLst/>
                <a:latin typeface="+mn-lt"/>
              </a:rPr>
              <a:t> events while maintaining ERROR-level logging for less critical activities like connectivity events. The granularity allows you to maintain comprehensive visibility into your IoT operations without the overhead of logging every activity at the same verbosity level, improving log searchability and analysis efficiency while helping to reducing costs.</a:t>
            </a:r>
            <a:br>
              <a:rPr lang="en-US" altLang="zh-CN" b="0" i="0" dirty="0">
                <a:effectLst/>
                <a:latin typeface="+mn-lt"/>
              </a:rPr>
            </a:br>
            <a:br>
              <a:rPr lang="en-US" altLang="zh-CN" b="0" i="0" dirty="0">
                <a:effectLst/>
                <a:latin typeface="+mn-lt"/>
              </a:rPr>
            </a:br>
            <a:r>
              <a:rPr lang="en-US" altLang="zh-CN" b="0" i="0" dirty="0">
                <a:effectLst/>
                <a:latin typeface="+mn-lt"/>
              </a:rPr>
              <a:t>Event-level logging is now available for configuration through the Amazon IoT console, CLI, and API in both Amazon Web Services China (Beijing) Region, operated by Sinnet, and Amazon Web Services China (Ningxia) Region, operated by NWCD. To learn more about configuring Event-Based Logging, visit </a:t>
            </a:r>
            <a:r>
              <a:rPr lang="en-US" altLang="zh-CN" b="0" i="0" u="sng" dirty="0">
                <a:effectLst/>
                <a:latin typeface="+mn-lt"/>
                <a:hlinkClick r:id="rId2">
                  <a:extLst>
                    <a:ext uri="{A12FA001-AC4F-418D-AE19-62706E023703}">
                      <ahyp:hlinkClr xmlns:ahyp="http://schemas.microsoft.com/office/drawing/2018/hyperlinkcolor" val="tx"/>
                    </a:ext>
                  </a:extLst>
                </a:hlinkClick>
              </a:rPr>
              <a:t>Amazon IoT Developer Guide</a:t>
            </a:r>
            <a:r>
              <a:rPr lang="en-US" altLang="zh-CN" b="0" i="0" dirty="0">
                <a:effectLst/>
                <a:latin typeface="+mn-lt"/>
              </a:rPr>
              <a:t>.</a:t>
            </a:r>
          </a:p>
          <a:p>
            <a:pPr algn="l"/>
            <a:endParaRPr lang="en-US" altLang="zh-CN" dirty="0">
              <a:solidFill>
                <a:srgbClr val="2E3C4E"/>
              </a:solidFill>
              <a:latin typeface="+mn-lt"/>
            </a:endParaRPr>
          </a:p>
          <a:p>
            <a:pPr algn="l"/>
            <a:r>
              <a:rPr lang="en-US" altLang="zh-CN" b="0" i="0" dirty="0">
                <a:solidFill>
                  <a:srgbClr val="2E3C4E"/>
                </a:solidFill>
                <a:effectLst/>
                <a:latin typeface="+mn-lt"/>
                <a:hlinkClick r:id="rId3"/>
              </a:rPr>
              <a:t>https://www.amazonaws.cn/en/new/2025/amazon-iot-offers-event-based-logging-to-help-optimize-observability-costs/</a:t>
            </a:r>
            <a:endParaRPr lang="en-US" altLang="zh-CN" b="0" i="0" dirty="0">
              <a:solidFill>
                <a:srgbClr val="2E3C4E"/>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IoT now offers event-based logging to help optimize observability costs</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2798392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en-US" altLang="zh-CN" dirty="0"/>
              <a:t>New service category</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Tool</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Developer Tools</a:t>
            </a:r>
            <a:endParaRPr lang="zh-CN" altLang="en-US" b="1" dirty="0"/>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bg1">
              <a:lumMod val="6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IoT</a:t>
            </a:r>
            <a:endParaRPr lang="zh-CN" altLang="en-US" b="1" dirty="0"/>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Specials</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accent3">
              <a:lumMod val="20000"/>
              <a:lumOff val="8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Marketplace</a:t>
            </a:r>
            <a:endParaRPr lang="en-US" b="1" dirty="0"/>
          </a:p>
        </p:txBody>
      </p:sp>
    </p:spTree>
    <p:extLst>
      <p:ext uri="{BB962C8B-B14F-4D97-AF65-F5344CB8AC3E}">
        <p14:creationId xmlns:p14="http://schemas.microsoft.com/office/powerpoint/2010/main" val="2793032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056" y="1947672"/>
            <a:ext cx="10936224" cy="4142232"/>
          </a:xfrm>
        </p:spPr>
        <p:txBody>
          <a:bodyPr/>
          <a:lstStyle/>
          <a:p>
            <a:pPr algn="l"/>
            <a:r>
              <a:rPr lang="en-US" altLang="zh-CN" b="0" i="0" dirty="0">
                <a:effectLst/>
                <a:latin typeface="+mn-lt"/>
              </a:rPr>
              <a:t>Posted on: Dec 5, 2025</a:t>
            </a:r>
          </a:p>
          <a:p>
            <a:pPr algn="l"/>
            <a:r>
              <a:rPr lang="en-US" altLang="zh-CN" b="0" i="0" dirty="0">
                <a:effectLst/>
                <a:latin typeface="+mn-lt"/>
              </a:rPr>
              <a:t>On December 5, 2025, Amazon Web Services Marketplace China launches the Fapiao Management feature for third-party sellers, introducing a fully enhanced, end-to-end process for fapiao (tax invoice) management feature within Amazon Web Services Marketplace China Management Portal (AMMP).</a:t>
            </a:r>
          </a:p>
          <a:p>
            <a:pPr algn="l"/>
            <a:r>
              <a:rPr lang="en-US" altLang="zh-CN" b="0" i="0" dirty="0">
                <a:effectLst/>
                <a:latin typeface="+mn-lt"/>
              </a:rPr>
              <a:t>This new feature delivers a more transparent and automated experience for both sellers and buyers across the entire fapiao lifecycle—from delivery to management. Through the newly added “Fapiao Management” tab in the AMMP, sellers can now upload, preview, and track their fapiao status. The system also provides fapiao issuance historical tracking and visibility to increase efficiency and accuracy. Once a valid fapiao is uploaded and passes the system scan, the system automatically forwards it to the buyer via email, reducing manual intervention and ensuring timely delivery.</a:t>
            </a:r>
          </a:p>
          <a:p>
            <a:pPr algn="l"/>
            <a:r>
              <a:rPr lang="en-US" altLang="zh-CN" b="0" i="0" dirty="0">
                <a:effectLst/>
                <a:latin typeface="+mn-lt"/>
              </a:rPr>
              <a:t>Overall, this release significantly improves the visibility, efficiency, and reliability of fapiao management, while reducing manual follow-ups and enhancing collaboration between sellers and buyers through an automated, traceable, and user-friendly process.</a:t>
            </a:r>
          </a:p>
          <a:p>
            <a:pPr algn="l"/>
            <a:endParaRPr lang="en-US" altLang="zh-CN" dirty="0">
              <a:solidFill>
                <a:srgbClr val="2E3C4E"/>
              </a:solidFill>
              <a:latin typeface="+mn-lt"/>
            </a:endParaRPr>
          </a:p>
          <a:p>
            <a:pPr algn="l"/>
            <a:r>
              <a:rPr lang="en-US" altLang="zh-CN" b="0" i="0" dirty="0">
                <a:solidFill>
                  <a:srgbClr val="2E3C4E"/>
                </a:solidFill>
                <a:effectLst/>
                <a:latin typeface="+mn-lt"/>
                <a:hlinkClick r:id="rId2"/>
              </a:rPr>
              <a:t>https://www.amazonaws.cn/en/new/2025/fapiao-management-feature-is-available-in-amazon-web-services-marketplace-china/</a:t>
            </a:r>
            <a:endParaRPr lang="en-US" altLang="zh-CN" b="0" i="0" dirty="0">
              <a:solidFill>
                <a:srgbClr val="2E3C4E"/>
              </a:solidFill>
              <a:effectLst/>
              <a:latin typeface="+mn-lt"/>
            </a:endParaRPr>
          </a:p>
          <a:p>
            <a:pPr algn="l"/>
            <a:endParaRPr lang="en-US" altLang="zh-CN" b="0" i="0" dirty="0">
              <a:solidFill>
                <a:srgbClr val="2E3C4E"/>
              </a:solidFill>
              <a:effectLst/>
              <a:latin typeface="+mn-lt"/>
            </a:endParaRPr>
          </a:p>
        </p:txBody>
      </p:sp>
      <p:sp>
        <p:nvSpPr>
          <p:cNvPr id="4" name="Rectangle 3"/>
          <p:cNvSpPr/>
          <p:nvPr/>
        </p:nvSpPr>
        <p:spPr>
          <a:xfrm>
            <a:off x="448056" y="1380744"/>
            <a:ext cx="10936224"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Fapiao Management Feature is Now Available in Amazon Web Services Marketplace China</a:t>
            </a:r>
          </a:p>
        </p:txBody>
      </p:sp>
      <p:sp>
        <p:nvSpPr>
          <p:cNvPr id="6" name="Title 1"/>
          <p:cNvSpPr>
            <a:spLocks noGrp="1"/>
          </p:cNvSpPr>
          <p:nvPr>
            <p:ph type="title"/>
          </p:nvPr>
        </p:nvSpPr>
        <p:spPr>
          <a:xfrm>
            <a:off x="449052" y="153249"/>
            <a:ext cx="10940405" cy="727655"/>
          </a:xfrm>
        </p:spPr>
        <p:txBody>
          <a:bodyPr/>
          <a:lstStyle/>
          <a:p>
            <a:r>
              <a:rPr lang="en-US" dirty="0"/>
              <a:t>New service/New feature</a:t>
            </a:r>
            <a:endParaRPr dirty="0"/>
          </a:p>
        </p:txBody>
      </p:sp>
    </p:spTree>
    <p:extLst>
      <p:ext uri="{BB962C8B-B14F-4D97-AF65-F5344CB8AC3E}">
        <p14:creationId xmlns:p14="http://schemas.microsoft.com/office/powerpoint/2010/main" val="9469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905E7A6-FBE8-4347-A879-17F4CEF15BC3}"/>
              </a:ext>
            </a:extLst>
          </p:cNvPr>
          <p:cNvPicPr>
            <a:picLocks noChangeAspect="1"/>
          </p:cNvPicPr>
          <p:nvPr/>
        </p:nvPicPr>
        <p:blipFill>
          <a:blip r:embed="rId2"/>
          <a:stretch>
            <a:fillRect/>
          </a:stretch>
        </p:blipFill>
        <p:spPr>
          <a:xfrm>
            <a:off x="2044700" y="939800"/>
            <a:ext cx="8102600" cy="4978400"/>
          </a:xfrm>
          <a:prstGeom prst="rect">
            <a:avLst/>
          </a:prstGeom>
        </p:spPr>
      </p:pic>
    </p:spTree>
    <p:extLst>
      <p:ext uri="{BB962C8B-B14F-4D97-AF65-F5344CB8AC3E}">
        <p14:creationId xmlns:p14="http://schemas.microsoft.com/office/powerpoint/2010/main" val="2339298728"/>
      </p:ext>
    </p:extLst>
  </p:cSld>
  <p:clrMapOvr>
    <a:masterClrMapping/>
  </p:clrMapOvr>
</p:sld>
</file>

<file path=ppt/theme/theme1.xml><?xml version="1.0" encoding="utf-8"?>
<a:theme xmlns:a="http://schemas.openxmlformats.org/drawingml/2006/main" name="AGT Main Theme">
  <a:themeElements>
    <a:clrScheme name="自定义 1">
      <a:dk1>
        <a:srgbClr val="000000"/>
      </a:dk1>
      <a:lt1>
        <a:srgbClr val="FFFFFF"/>
      </a:lt1>
      <a:dk2>
        <a:srgbClr val="000000"/>
      </a:dk2>
      <a:lt2>
        <a:srgbClr val="000000"/>
      </a:lt2>
      <a:accent1>
        <a:srgbClr val="FD9827"/>
      </a:accent1>
      <a:accent2>
        <a:srgbClr val="FC3B89"/>
      </a:accent2>
      <a:accent3>
        <a:srgbClr val="23CBFC"/>
      </a:accent3>
      <a:accent4>
        <a:srgbClr val="1F3EBE"/>
      </a:accent4>
      <a:accent5>
        <a:srgbClr val="6444A2"/>
      </a:accent5>
      <a:accent6>
        <a:srgbClr val="FD9827"/>
      </a:accent6>
      <a:hlink>
        <a:srgbClr val="FD9827"/>
      </a:hlink>
      <a:folHlink>
        <a:srgbClr val="FD9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102264</TotalTime>
  <Words>2584</Words>
  <Application>Microsoft Office PowerPoint</Application>
  <PresentationFormat>Widescreen</PresentationFormat>
  <Paragraphs>203</Paragraphs>
  <Slides>21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Amazon Ember Regular</vt:lpstr>
      <vt:lpstr>AmazonEmber</vt:lpstr>
      <vt:lpstr>Microsoft YaHei</vt:lpstr>
      <vt:lpstr>Arial</vt:lpstr>
      <vt:lpstr>Calibri</vt:lpstr>
      <vt:lpstr>AGT Main Theme</vt:lpstr>
      <vt:lpstr>PowerPoint Presentation</vt:lpstr>
      <vt:lpstr>New service category</vt:lpstr>
      <vt:lpstr>New service category</vt:lpstr>
      <vt:lpstr>New service/New feature</vt:lpstr>
      <vt:lpstr>New service category</vt:lpstr>
      <vt:lpstr>New service/New feature</vt:lpstr>
      <vt:lpstr>New service category</vt:lpstr>
      <vt:lpstr>New service/New feature</vt:lpstr>
      <vt:lpstr>New service category</vt:lpstr>
      <vt:lpstr>New service/New feature</vt:lpstr>
      <vt:lpstr>New service category</vt:lpstr>
      <vt:lpstr>New service/New feature</vt:lpstr>
      <vt:lpstr>New service category</vt:lpstr>
      <vt:lpstr>New service/New feature</vt:lpstr>
      <vt:lpstr>New service category</vt:lpstr>
      <vt:lpstr>New service/New feature</vt:lpstr>
      <vt:lpstr>New service category</vt:lpstr>
      <vt:lpstr>New service/New feature</vt:lpstr>
      <vt:lpstr>New service category</vt:lpstr>
      <vt:lpstr>New service/New feature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Yuan</dc:creator>
  <cp:lastModifiedBy>Neil</cp:lastModifiedBy>
  <cp:revision>1101</cp:revision>
  <cp:lastPrinted>2019-07-07T09:17:51Z</cp:lastPrinted>
  <dcterms:modified xsi:type="dcterms:W3CDTF">2026-04-22T03:20:58Z</dcterms:modified>
</cp:coreProperties>
</file>